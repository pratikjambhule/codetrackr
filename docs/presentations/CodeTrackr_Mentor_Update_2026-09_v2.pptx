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CodeTrackr tracks coding activity from VS Code and turns it into insight, built around friendly competition in friend groups. Over the last few weeks: 67 commits, 4 extension versions, 348 automated test assertions, and a 13-rule insight engine. The card on the right is a real finding the insight engine produced from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a friend group competes on real coding activity instead of self-reported hours. Install the extension once, code normally, and the group page shows who actually put in the work. Each person also gets private insights about how they work. Only counts and file names are sent — never source code, diffs or full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came first: every data route requires sign-in, group passwords are hashed, and tracking got deeper. Then storage got leaner with 10-minute records, the API was hardened with rate limiting and validation, and CI keeps the build green. Insights became reliable, the platform went live end to end, and the machine-learning plan was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trackers run inside the extension. The editor tracker samples every 5 seconds: if you edited in that slice it counts as typing, otherwise reading. Churn is a line deleted within 10 minutes of being written. A flow block is a continuous stretch of activity that closes after 2 minutes of idle. Git commits come from VS Code's built-in Git, so GUI commits count too. Terminal exit codes separate successes from failures. Data is sent after about 2 active minutes and merged into one record per 10-minute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metric is a small, explainable formula. Deep work ratio is the share of flow-block time spent in stretches of 25 minutes or more. Volume stability uses the median and median absolute deviation, so one unusually long day cannot distort it. True peak window scores each two-hour window by minutes coded, discounted by how much of that code was rewritten, and requires at least 3 separate days. Every metric also carries a confidence level from its sample size — for example 3 active days, or 50 lines written — and shows a dash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build up in layers. The 10-minute records are grouped into sessions — a break of more than 30 minutes starts a new one — and each session is labelled as deep build, debugging, exploring or admin. Metrics are compared with your own 90-day baseline, and 13 rules then decide what is worth saying. A rule only fires when its metrics have enough data behind them. The panel shows two findings the engine actually produced from real activity data, with the evidence each one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348 automated test assertions across the backend and extension run in CI on every push, along with the frontend build. Sign-in uses Google OAuth with httpOnly cookies, group passwords are hashed with scrypt, sensitive routes are rate limited, and every activity upload is validated. The extension never loses an interval — a failed upload is merged into the next one — and scheduled jobs handle notifications and daily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from here. First, a public landing page with one-click sign-in so classmates can join easily. Second, friends using the extension build a real dataset. Third, train the machine-learning model: k-means clustering over eight features that describe the style of a coding session, trained offline in Python, with the live site labelling new sessions by their nearest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685800"/>
            <a:ext cx="5486400" cy="320040"/>
          </a:xfrm>
          <a:prstGeom prst="rect">
            <a:avLst/>
          </a:prstGeom>
          <a:noFill/>
          <a:ln/>
        </p:spPr>
        <p:txBody>
          <a:bodyPr wrap="square" lIns="0" tIns="0" rIns="0" bIns="0" rtlCol="0" anchor="ctr"/>
          <a:lstStyle/>
          <a:p>
            <a:pPr indent="0" marL="0">
              <a:buNone/>
            </a:pPr>
            <a:r>
              <a:rPr lang="en-US" sz="1300" b="1" spc="200" kern="0" dirty="0">
                <a:solidFill>
                  <a:srgbClr val="10B981"/>
                </a:solidFill>
                <a:latin typeface="Calibri" pitchFamily="34" charset="0"/>
                <a:ea typeface="Calibri" pitchFamily="34" charset="-122"/>
                <a:cs typeface="Calibri" pitchFamily="34" charset="-120"/>
              </a:rPr>
              <a:t>MENTOR UPDATE  ·  2026</a:t>
            </a:r>
            <a:endParaRPr lang="en-US" sz="1300" dirty="0"/>
          </a:p>
        </p:txBody>
      </p:sp>
      <p:sp>
        <p:nvSpPr>
          <p:cNvPr id="3" name="Text 1"/>
          <p:cNvSpPr txBox="1"/>
          <p:nvPr/>
        </p:nvSpPr>
        <p:spPr>
          <a:xfrm>
            <a:off x="731520" y="1097280"/>
            <a:ext cx="6035040" cy="1188720"/>
          </a:xfrm>
          <a:prstGeom prst="rect">
            <a:avLst/>
          </a:prstGeom>
          <a:noFill/>
          <a:ln/>
        </p:spPr>
        <p:txBody>
          <a:bodyPr wrap="square" lIns="0" tIns="0" rIns="0" bIns="0" rtlCol="0" anchor="ctr"/>
          <a:lstStyle/>
          <a:p>
            <a:pPr indent="0" marL="0">
              <a:buNone/>
            </a:pPr>
            <a:r>
              <a:rPr lang="en-US" sz="6800" b="1" dirty="0">
                <a:solidFill>
                  <a:srgbClr val="FFFFFF"/>
                </a:solidFill>
                <a:latin typeface="Calibri" pitchFamily="34" charset="0"/>
                <a:ea typeface="Calibri" pitchFamily="34" charset="-122"/>
                <a:cs typeface="Calibri" pitchFamily="34" charset="-120"/>
              </a:rPr>
              <a:t>CodeTrackr</a:t>
            </a:r>
            <a:endParaRPr lang="en-US" sz="6800" dirty="0"/>
          </a:p>
        </p:txBody>
      </p:sp>
      <p:sp>
        <p:nvSpPr>
          <p:cNvPr id="4" name="Text 2"/>
          <p:cNvSpPr txBox="1"/>
          <p:nvPr/>
        </p:nvSpPr>
        <p:spPr>
          <a:xfrm>
            <a:off x="731520" y="2377440"/>
            <a:ext cx="5852160" cy="914400"/>
          </a:xfrm>
          <a:prstGeom prst="rect">
            <a:avLst/>
          </a:prstGeom>
          <a:noFill/>
          <a:ln/>
        </p:spPr>
        <p:txBody>
          <a:bodyPr wrap="square" lIns="0" tIns="0" rIns="0" bIns="0" rtlCol="0" anchor="t"/>
          <a:lstStyle/>
          <a:p>
            <a:pPr indent="0" marL="0">
              <a:buNone/>
            </a:pPr>
            <a:r>
              <a:rPr lang="en-US" sz="2200" dirty="0">
                <a:solidFill>
                  <a:srgbClr val="CBD5E1"/>
                </a:solidFill>
                <a:latin typeface="Calibri" pitchFamily="34" charset="0"/>
                <a:ea typeface="Calibri" pitchFamily="34" charset="-122"/>
                <a:cs typeface="Calibri" pitchFamily="34" charset="-120"/>
              </a:rPr>
              <a:t>Coding activity turned into honest insight — built for friendly competition</a:t>
            </a:r>
            <a:endParaRPr lang="en-US" sz="2200" dirty="0"/>
          </a:p>
        </p:txBody>
      </p:sp>
      <p:sp>
        <p:nvSpPr>
          <p:cNvPr id="5" name="Text 3"/>
          <p:cNvSpPr txBox="1"/>
          <p:nvPr/>
        </p:nvSpPr>
        <p:spPr>
          <a:xfrm>
            <a:off x="731520" y="3383280"/>
            <a:ext cx="5852160" cy="365760"/>
          </a:xfrm>
          <a:prstGeom prst="rect">
            <a:avLst/>
          </a:prstGeom>
          <a:noFill/>
          <a:ln/>
        </p:spPr>
        <p:txBody>
          <a:bodyPr wrap="square" lIns="0" tIns="0" rIns="0" bIns="0" rtlCol="0" anchor="ctr"/>
          <a:lstStyle/>
          <a:p>
            <a:pPr indent="0" marL="0">
              <a:buNone/>
            </a:pPr>
            <a:r>
              <a:rPr lang="en-US" sz="1300" dirty="0">
                <a:solidFill>
                  <a:srgbClr val="94A3B8"/>
                </a:solidFill>
                <a:latin typeface="Courier New" pitchFamily="34" charset="0"/>
                <a:ea typeface="Courier New" pitchFamily="34" charset="-122"/>
                <a:cs typeface="Courier New" pitchFamily="34" charset="-120"/>
              </a:rPr>
              <a:t>VS Code extension · Express + MongoDB · React</a:t>
            </a:r>
            <a:endParaRPr lang="en-US" sz="1300" dirty="0"/>
          </a:p>
        </p:txBody>
      </p:sp>
      <p:sp>
        <p:nvSpPr>
          <p:cNvPr id="6" name="Shape 4"/>
          <p:cNvSpPr/>
          <p:nvPr/>
        </p:nvSpPr>
        <p:spPr>
          <a:xfrm>
            <a:off x="7086600" y="822960"/>
            <a:ext cx="4526280" cy="3429000"/>
          </a:xfrm>
          <a:prstGeom prst="roundRect">
            <a:avLst>
              <a:gd name="adj" fmla="val 3733"/>
            </a:avLst>
          </a:prstGeom>
          <a:solidFill>
            <a:srgbClr val="111A2E"/>
          </a:solidFill>
          <a:ln w="12700">
            <a:solidFill>
              <a:srgbClr val="24324F"/>
            </a:solidFill>
            <a:prstDash val="solid"/>
          </a:ln>
          <a:effectLst>
            <a:outerShdw sx="100000" sy="100000" kx="0" ky="0" algn="bl" rotWithShape="0" blurRad="228600" dist="76200" dir="5400000">
              <a:srgbClr val="000000">
                <a:alpha val="45000"/>
              </a:srgbClr>
            </a:outerShdw>
          </a:effectLst>
        </p:spPr>
      </p:sp>
      <p:sp>
        <p:nvSpPr>
          <p:cNvPr id="7" name="Shape 5"/>
          <p:cNvSpPr/>
          <p:nvPr/>
        </p:nvSpPr>
        <p:spPr>
          <a:xfrm>
            <a:off x="7342632" y="1024128"/>
            <a:ext cx="137160" cy="137160"/>
          </a:xfrm>
          <a:prstGeom prst="ellipse">
            <a:avLst/>
          </a:prstGeom>
          <a:solidFill>
            <a:srgbClr val="F87171"/>
          </a:solidFill>
          <a:ln/>
        </p:spPr>
      </p:sp>
      <p:sp>
        <p:nvSpPr>
          <p:cNvPr id="8" name="Shape 6"/>
          <p:cNvSpPr/>
          <p:nvPr/>
        </p:nvSpPr>
        <p:spPr>
          <a:xfrm>
            <a:off x="7580376" y="1024128"/>
            <a:ext cx="137160" cy="137160"/>
          </a:xfrm>
          <a:prstGeom prst="ellipse">
            <a:avLst/>
          </a:prstGeom>
          <a:solidFill>
            <a:srgbClr val="FBBF24"/>
          </a:solidFill>
          <a:ln/>
        </p:spPr>
      </p:sp>
      <p:sp>
        <p:nvSpPr>
          <p:cNvPr id="9" name="Shape 7"/>
          <p:cNvSpPr/>
          <p:nvPr/>
        </p:nvSpPr>
        <p:spPr>
          <a:xfrm>
            <a:off x="7818120" y="1024128"/>
            <a:ext cx="137160" cy="137160"/>
          </a:xfrm>
          <a:prstGeom prst="ellipse">
            <a:avLst/>
          </a:prstGeom>
          <a:solidFill>
            <a:srgbClr val="34D399"/>
          </a:solidFill>
          <a:ln/>
        </p:spPr>
      </p:sp>
      <p:sp>
        <p:nvSpPr>
          <p:cNvPr id="10" name="Text 8"/>
          <p:cNvSpPr txBox="1"/>
          <p:nvPr/>
        </p:nvSpPr>
        <p:spPr>
          <a:xfrm>
            <a:off x="8183880" y="950976"/>
            <a:ext cx="1828800" cy="274320"/>
          </a:xfrm>
          <a:prstGeom prst="rect">
            <a:avLst/>
          </a:prstGeom>
          <a:noFill/>
          <a:ln/>
        </p:spPr>
        <p:txBody>
          <a:bodyPr wrap="square" lIns="0" tIns="0" rIns="0" bIns="0" rtlCol="0" anchor="ctr"/>
          <a:lstStyle/>
          <a:p>
            <a:pPr indent="0" marL="0">
              <a:buNone/>
            </a:pPr>
            <a:r>
              <a:rPr lang="en-US" sz="1100" dirty="0">
                <a:solidFill>
                  <a:srgbClr val="94A3B8"/>
                </a:solidFill>
                <a:latin typeface="Courier New" pitchFamily="34" charset="0"/>
                <a:ea typeface="Courier New" pitchFamily="34" charset="-122"/>
                <a:cs typeface="Courier New" pitchFamily="34" charset="-120"/>
              </a:rPr>
              <a:t>insights.ts</a:t>
            </a:r>
            <a:endParaRPr lang="en-US" sz="1100" dirty="0"/>
          </a:p>
        </p:txBody>
      </p:sp>
      <p:sp>
        <p:nvSpPr>
          <p:cNvPr id="11" name="Shape 9"/>
          <p:cNvSpPr/>
          <p:nvPr/>
        </p:nvSpPr>
        <p:spPr>
          <a:xfrm>
            <a:off x="7406640" y="1463040"/>
            <a:ext cx="2103120" cy="128016"/>
          </a:xfrm>
          <a:prstGeom prst="roundRect">
            <a:avLst>
              <a:gd name="adj" fmla="val 50000"/>
            </a:avLst>
          </a:prstGeom>
          <a:solidFill>
            <a:srgbClr val="2B3A55"/>
          </a:solidFill>
          <a:ln/>
        </p:spPr>
      </p:sp>
      <p:sp>
        <p:nvSpPr>
          <p:cNvPr id="12" name="Shape 10"/>
          <p:cNvSpPr/>
          <p:nvPr/>
        </p:nvSpPr>
        <p:spPr>
          <a:xfrm>
            <a:off x="7680960" y="1764792"/>
            <a:ext cx="2926080" cy="128016"/>
          </a:xfrm>
          <a:prstGeom prst="roundRect">
            <a:avLst>
              <a:gd name="adj" fmla="val 50000"/>
            </a:avLst>
          </a:prstGeom>
          <a:solidFill>
            <a:srgbClr val="2B3A55"/>
          </a:solidFill>
          <a:ln/>
        </p:spPr>
      </p:sp>
      <p:sp>
        <p:nvSpPr>
          <p:cNvPr id="13" name="Shape 11"/>
          <p:cNvSpPr/>
          <p:nvPr/>
        </p:nvSpPr>
        <p:spPr>
          <a:xfrm>
            <a:off x="7680960" y="2066544"/>
            <a:ext cx="1463040" cy="128016"/>
          </a:xfrm>
          <a:prstGeom prst="roundRect">
            <a:avLst>
              <a:gd name="adj" fmla="val 50000"/>
            </a:avLst>
          </a:prstGeom>
          <a:solidFill>
            <a:srgbClr val="10B981">
              <a:alpha val="65000"/>
            </a:srgbClr>
          </a:solidFill>
          <a:ln/>
        </p:spPr>
      </p:sp>
      <p:sp>
        <p:nvSpPr>
          <p:cNvPr id="14" name="Shape 12"/>
          <p:cNvSpPr/>
          <p:nvPr/>
        </p:nvSpPr>
        <p:spPr>
          <a:xfrm>
            <a:off x="7955280" y="2368296"/>
            <a:ext cx="2468880" cy="128016"/>
          </a:xfrm>
          <a:prstGeom prst="roundRect">
            <a:avLst>
              <a:gd name="adj" fmla="val 50000"/>
            </a:avLst>
          </a:prstGeom>
          <a:solidFill>
            <a:srgbClr val="2B3A55"/>
          </a:solidFill>
          <a:ln/>
        </p:spPr>
      </p:sp>
      <p:sp>
        <p:nvSpPr>
          <p:cNvPr id="15" name="Shape 13"/>
          <p:cNvSpPr/>
          <p:nvPr/>
        </p:nvSpPr>
        <p:spPr>
          <a:xfrm>
            <a:off x="7955280" y="2670048"/>
            <a:ext cx="1828800" cy="128016"/>
          </a:xfrm>
          <a:prstGeom prst="roundRect">
            <a:avLst>
              <a:gd name="adj" fmla="val 50000"/>
            </a:avLst>
          </a:prstGeom>
          <a:solidFill>
            <a:srgbClr val="2B3A55"/>
          </a:solidFill>
          <a:ln/>
        </p:spPr>
      </p:sp>
      <p:sp>
        <p:nvSpPr>
          <p:cNvPr id="16" name="Shape 14"/>
          <p:cNvSpPr/>
          <p:nvPr/>
        </p:nvSpPr>
        <p:spPr>
          <a:xfrm>
            <a:off x="7680960" y="2971800"/>
            <a:ext cx="1097280" cy="128016"/>
          </a:xfrm>
          <a:prstGeom prst="roundRect">
            <a:avLst>
              <a:gd name="adj" fmla="val 50000"/>
            </a:avLst>
          </a:prstGeom>
          <a:solidFill>
            <a:srgbClr val="F59E0B">
              <a:alpha val="65000"/>
            </a:srgbClr>
          </a:solidFill>
          <a:ln/>
        </p:spPr>
      </p:sp>
      <p:sp>
        <p:nvSpPr>
          <p:cNvPr id="17" name="Shape 15"/>
          <p:cNvSpPr/>
          <p:nvPr/>
        </p:nvSpPr>
        <p:spPr>
          <a:xfrm>
            <a:off x="7406640" y="3273552"/>
            <a:ext cx="2651760" cy="128016"/>
          </a:xfrm>
          <a:prstGeom prst="roundRect">
            <a:avLst>
              <a:gd name="adj" fmla="val 50000"/>
            </a:avLst>
          </a:prstGeom>
          <a:solidFill>
            <a:srgbClr val="2B3A55"/>
          </a:solidFill>
          <a:ln/>
        </p:spPr>
      </p:sp>
      <p:sp>
        <p:nvSpPr>
          <p:cNvPr id="18" name="Shape 16"/>
          <p:cNvSpPr/>
          <p:nvPr/>
        </p:nvSpPr>
        <p:spPr>
          <a:xfrm>
            <a:off x="7680960" y="3575304"/>
            <a:ext cx="2011680" cy="128016"/>
          </a:xfrm>
          <a:prstGeom prst="roundRect">
            <a:avLst>
              <a:gd name="adj" fmla="val 50000"/>
            </a:avLst>
          </a:prstGeom>
          <a:solidFill>
            <a:srgbClr val="2B3A55"/>
          </a:solidFill>
          <a:ln/>
        </p:spPr>
      </p:sp>
      <p:sp>
        <p:nvSpPr>
          <p:cNvPr id="19" name="Shape 17"/>
          <p:cNvSpPr/>
          <p:nvPr/>
        </p:nvSpPr>
        <p:spPr>
          <a:xfrm>
            <a:off x="8183880" y="3474720"/>
            <a:ext cx="3429000" cy="1005840"/>
          </a:xfrm>
          <a:prstGeom prst="roundRect">
            <a:avLst>
              <a:gd name="adj" fmla="val 10909"/>
            </a:avLst>
          </a:prstGeom>
          <a:solidFill>
            <a:srgbClr val="FFFFFF"/>
          </a:solidFill>
          <a:ln/>
          <a:effectLst>
            <a:outerShdw sx="100000" sy="100000" kx="0" ky="0" algn="bl" rotWithShape="0" blurRad="177800" dist="50800" dir="5400000">
              <a:srgbClr val="000000">
                <a:alpha val="40000"/>
              </a:srgbClr>
            </a:outerShdw>
          </a:effectLst>
        </p:spPr>
      </p:sp>
      <p:sp>
        <p:nvSpPr>
          <p:cNvPr id="20" name="Shape 18"/>
          <p:cNvSpPr/>
          <p:nvPr/>
        </p:nvSpPr>
        <p:spPr>
          <a:xfrm>
            <a:off x="8385048" y="3703320"/>
            <a:ext cx="548640" cy="548640"/>
          </a:xfrm>
          <a:prstGeom prst="ellipse">
            <a:avLst/>
          </a:prstGeom>
          <a:solidFill>
            <a:srgbClr val="10B981"/>
          </a:solidFill>
          <a:ln/>
        </p:spPr>
      </p:sp>
      <p:pic>
        <p:nvPicPr>
          <p:cNvPr id="21" name="Image 0" descr="preencoded.png">    </p:cNvPr>
          <p:cNvPicPr>
            <a:picLocks noChangeAspect="1"/>
          </p:cNvPicPr>
          <p:nvPr/>
        </p:nvPicPr>
        <p:blipFill>
          <a:blip r:embed="rId2"/>
          <a:stretch>
            <a:fillRect/>
          </a:stretch>
        </p:blipFill>
        <p:spPr>
          <a:xfrm>
            <a:off x="8522208" y="3840480"/>
            <a:ext cx="274320" cy="274320"/>
          </a:xfrm>
          <a:prstGeom prst="rect">
            <a:avLst/>
          </a:prstGeom>
        </p:spPr>
      </p:pic>
      <p:sp>
        <p:nvSpPr>
          <p:cNvPr id="22" name="Text 19"/>
          <p:cNvSpPr txBox="1"/>
          <p:nvPr/>
        </p:nvSpPr>
        <p:spPr>
          <a:xfrm>
            <a:off x="9079992" y="3657600"/>
            <a:ext cx="24231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Best work: 16:00–18:00</a:t>
            </a:r>
            <a:endParaRPr lang="en-US" sz="1600" dirty="0"/>
          </a:p>
        </p:txBody>
      </p:sp>
      <p:sp>
        <p:nvSpPr>
          <p:cNvPr id="23" name="Text 20"/>
          <p:cNvSpPr txBox="1"/>
          <p:nvPr/>
        </p:nvSpPr>
        <p:spPr>
          <a:xfrm>
            <a:off x="9079992" y="4005072"/>
            <a:ext cx="2423160"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across 23 days · high confidence</a:t>
            </a:r>
            <a:endParaRPr lang="en-US" sz="1200" dirty="0"/>
          </a:p>
        </p:txBody>
      </p:sp>
      <p:sp>
        <p:nvSpPr>
          <p:cNvPr id="24" name="Shape 21"/>
          <p:cNvSpPr/>
          <p:nvPr/>
        </p:nvSpPr>
        <p:spPr>
          <a:xfrm>
            <a:off x="731520" y="4983480"/>
            <a:ext cx="2510714" cy="1234440"/>
          </a:xfrm>
          <a:prstGeom prst="roundRect">
            <a:avLst>
              <a:gd name="adj" fmla="val 8889"/>
            </a:avLst>
          </a:prstGeom>
          <a:solidFill>
            <a:srgbClr val="16213A">
              <a:alpha val="85000"/>
            </a:srgbClr>
          </a:solidFill>
          <a:ln w="12700">
            <a:solidFill>
              <a:srgbClr val="24324F"/>
            </a:solidFill>
            <a:prstDash val="solid"/>
          </a:ln>
        </p:spPr>
      </p:sp>
      <p:sp>
        <p:nvSpPr>
          <p:cNvPr id="25" name="Text 22"/>
          <p:cNvSpPr txBox="1"/>
          <p:nvPr/>
        </p:nvSpPr>
        <p:spPr>
          <a:xfrm>
            <a:off x="1005840" y="5074920"/>
            <a:ext cx="1962074" cy="658368"/>
          </a:xfrm>
          <a:prstGeom prst="rect">
            <a:avLst/>
          </a:prstGeom>
          <a:noFill/>
          <a:ln/>
        </p:spPr>
        <p:txBody>
          <a:bodyPr wrap="square" lIns="0" tIns="0" rIns="0" bIns="0" rtlCol="0" anchor="ctr"/>
          <a:lstStyle/>
          <a:p>
            <a:pPr indent="0" marL="0">
              <a:buNone/>
            </a:pPr>
            <a:r>
              <a:rPr lang="en-US" sz="3600" b="1" dirty="0">
                <a:solidFill>
                  <a:srgbClr val="10B981"/>
                </a:solidFill>
                <a:latin typeface="Calibri" pitchFamily="34" charset="0"/>
                <a:ea typeface="Calibri" pitchFamily="34" charset="-122"/>
                <a:cs typeface="Calibri" pitchFamily="34" charset="-120"/>
              </a:rPr>
              <a:t>67</a:t>
            </a:r>
            <a:endParaRPr lang="en-US" sz="3600" dirty="0"/>
          </a:p>
        </p:txBody>
      </p:sp>
      <p:sp>
        <p:nvSpPr>
          <p:cNvPr id="26" name="Text 23"/>
          <p:cNvSpPr txBox="1"/>
          <p:nvPr/>
        </p:nvSpPr>
        <p:spPr>
          <a:xfrm>
            <a:off x="1005840" y="5715000"/>
            <a:ext cx="1962074"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commits</a:t>
            </a:r>
            <a:endParaRPr lang="en-US" sz="1500" dirty="0"/>
          </a:p>
        </p:txBody>
      </p:sp>
      <p:sp>
        <p:nvSpPr>
          <p:cNvPr id="27" name="Shape 24"/>
          <p:cNvSpPr/>
          <p:nvPr/>
        </p:nvSpPr>
        <p:spPr>
          <a:xfrm>
            <a:off x="3470834" y="4983480"/>
            <a:ext cx="2510714" cy="1234440"/>
          </a:xfrm>
          <a:prstGeom prst="roundRect">
            <a:avLst>
              <a:gd name="adj" fmla="val 8889"/>
            </a:avLst>
          </a:prstGeom>
          <a:solidFill>
            <a:srgbClr val="16213A">
              <a:alpha val="85000"/>
            </a:srgbClr>
          </a:solidFill>
          <a:ln w="12700">
            <a:solidFill>
              <a:srgbClr val="24324F"/>
            </a:solidFill>
            <a:prstDash val="solid"/>
          </a:ln>
        </p:spPr>
      </p:sp>
      <p:sp>
        <p:nvSpPr>
          <p:cNvPr id="28" name="Text 25"/>
          <p:cNvSpPr txBox="1"/>
          <p:nvPr/>
        </p:nvSpPr>
        <p:spPr>
          <a:xfrm>
            <a:off x="3745154" y="5074920"/>
            <a:ext cx="1962074" cy="658368"/>
          </a:xfrm>
          <a:prstGeom prst="rect">
            <a:avLst/>
          </a:prstGeom>
          <a:noFill/>
          <a:ln/>
        </p:spPr>
        <p:txBody>
          <a:bodyPr wrap="square" lIns="0" tIns="0" rIns="0" bIns="0" rtlCol="0" anchor="ctr"/>
          <a:lstStyle/>
          <a:p>
            <a:pPr indent="0" marL="0">
              <a:buNone/>
            </a:pPr>
            <a:r>
              <a:rPr lang="en-US" sz="3600" b="1" dirty="0">
                <a:solidFill>
                  <a:srgbClr val="10B981"/>
                </a:solidFill>
                <a:latin typeface="Calibri" pitchFamily="34" charset="0"/>
                <a:ea typeface="Calibri" pitchFamily="34" charset="-122"/>
                <a:cs typeface="Calibri" pitchFamily="34" charset="-120"/>
              </a:rPr>
              <a:t>4</a:t>
            </a:r>
            <a:endParaRPr lang="en-US" sz="3600" dirty="0"/>
          </a:p>
        </p:txBody>
      </p:sp>
      <p:sp>
        <p:nvSpPr>
          <p:cNvPr id="29" name="Text 26"/>
          <p:cNvSpPr txBox="1"/>
          <p:nvPr/>
        </p:nvSpPr>
        <p:spPr>
          <a:xfrm>
            <a:off x="3745154" y="5715000"/>
            <a:ext cx="1962074"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extension versions</a:t>
            </a:r>
            <a:endParaRPr lang="en-US" sz="1500" dirty="0"/>
          </a:p>
        </p:txBody>
      </p:sp>
      <p:sp>
        <p:nvSpPr>
          <p:cNvPr id="30" name="Shape 27"/>
          <p:cNvSpPr/>
          <p:nvPr/>
        </p:nvSpPr>
        <p:spPr>
          <a:xfrm>
            <a:off x="6210148" y="4983480"/>
            <a:ext cx="2510714" cy="1234440"/>
          </a:xfrm>
          <a:prstGeom prst="roundRect">
            <a:avLst>
              <a:gd name="adj" fmla="val 8889"/>
            </a:avLst>
          </a:prstGeom>
          <a:solidFill>
            <a:srgbClr val="16213A">
              <a:alpha val="85000"/>
            </a:srgbClr>
          </a:solidFill>
          <a:ln w="12700">
            <a:solidFill>
              <a:srgbClr val="24324F"/>
            </a:solidFill>
            <a:prstDash val="solid"/>
          </a:ln>
        </p:spPr>
      </p:sp>
      <p:sp>
        <p:nvSpPr>
          <p:cNvPr id="31" name="Text 28"/>
          <p:cNvSpPr txBox="1"/>
          <p:nvPr/>
        </p:nvSpPr>
        <p:spPr>
          <a:xfrm>
            <a:off x="6484468" y="5074920"/>
            <a:ext cx="1962074" cy="658368"/>
          </a:xfrm>
          <a:prstGeom prst="rect">
            <a:avLst/>
          </a:prstGeom>
          <a:noFill/>
          <a:ln/>
        </p:spPr>
        <p:txBody>
          <a:bodyPr wrap="square" lIns="0" tIns="0" rIns="0" bIns="0" rtlCol="0" anchor="ctr"/>
          <a:lstStyle/>
          <a:p>
            <a:pPr indent="0" marL="0">
              <a:buNone/>
            </a:pPr>
            <a:r>
              <a:rPr lang="en-US" sz="3600" b="1" dirty="0">
                <a:solidFill>
                  <a:srgbClr val="10B981"/>
                </a:solidFill>
                <a:latin typeface="Calibri" pitchFamily="34" charset="0"/>
                <a:ea typeface="Calibri" pitchFamily="34" charset="-122"/>
                <a:cs typeface="Calibri" pitchFamily="34" charset="-120"/>
              </a:rPr>
              <a:t>348</a:t>
            </a:r>
            <a:endParaRPr lang="en-US" sz="3600" dirty="0"/>
          </a:p>
        </p:txBody>
      </p:sp>
      <p:sp>
        <p:nvSpPr>
          <p:cNvPr id="32" name="Text 29"/>
          <p:cNvSpPr txBox="1"/>
          <p:nvPr/>
        </p:nvSpPr>
        <p:spPr>
          <a:xfrm>
            <a:off x="6484468" y="5715000"/>
            <a:ext cx="1962074"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test assertions</a:t>
            </a:r>
            <a:endParaRPr lang="en-US" sz="1500" dirty="0"/>
          </a:p>
        </p:txBody>
      </p:sp>
      <p:sp>
        <p:nvSpPr>
          <p:cNvPr id="33" name="Shape 30"/>
          <p:cNvSpPr/>
          <p:nvPr/>
        </p:nvSpPr>
        <p:spPr>
          <a:xfrm>
            <a:off x="8949461" y="4983480"/>
            <a:ext cx="2510714" cy="1234440"/>
          </a:xfrm>
          <a:prstGeom prst="roundRect">
            <a:avLst>
              <a:gd name="adj" fmla="val 8889"/>
            </a:avLst>
          </a:prstGeom>
          <a:solidFill>
            <a:srgbClr val="16213A">
              <a:alpha val="85000"/>
            </a:srgbClr>
          </a:solidFill>
          <a:ln w="12700">
            <a:solidFill>
              <a:srgbClr val="24324F"/>
            </a:solidFill>
            <a:prstDash val="solid"/>
          </a:ln>
        </p:spPr>
      </p:sp>
      <p:sp>
        <p:nvSpPr>
          <p:cNvPr id="34" name="Text 31"/>
          <p:cNvSpPr txBox="1"/>
          <p:nvPr/>
        </p:nvSpPr>
        <p:spPr>
          <a:xfrm>
            <a:off x="9223781" y="5074920"/>
            <a:ext cx="1962074" cy="658368"/>
          </a:xfrm>
          <a:prstGeom prst="rect">
            <a:avLst/>
          </a:prstGeom>
          <a:noFill/>
          <a:ln/>
        </p:spPr>
        <p:txBody>
          <a:bodyPr wrap="square" lIns="0" tIns="0" rIns="0" bIns="0" rtlCol="0" anchor="ctr"/>
          <a:lstStyle/>
          <a:p>
            <a:pPr indent="0" marL="0">
              <a:buNone/>
            </a:pPr>
            <a:r>
              <a:rPr lang="en-US" sz="3600" b="1" dirty="0">
                <a:solidFill>
                  <a:srgbClr val="10B981"/>
                </a:solidFill>
                <a:latin typeface="Calibri" pitchFamily="34" charset="0"/>
                <a:ea typeface="Calibri" pitchFamily="34" charset="-122"/>
                <a:cs typeface="Calibri" pitchFamily="34" charset="-120"/>
              </a:rPr>
              <a:t>13</a:t>
            </a:r>
            <a:endParaRPr lang="en-US" sz="3600" dirty="0"/>
          </a:p>
        </p:txBody>
      </p:sp>
      <p:sp>
        <p:nvSpPr>
          <p:cNvPr id="35" name="Text 32"/>
          <p:cNvSpPr txBox="1"/>
          <p:nvPr/>
        </p:nvSpPr>
        <p:spPr>
          <a:xfrm>
            <a:off x="9223781" y="5715000"/>
            <a:ext cx="1962074"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insight rules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0F172A"/>
                </a:solidFill>
                <a:latin typeface="Calibri" pitchFamily="34" charset="0"/>
                <a:ea typeface="Calibri" pitchFamily="34" charset="-122"/>
                <a:cs typeface="Calibri" pitchFamily="34" charset="-120"/>
              </a:rPr>
              <a:t>What CodeTrackr does</a:t>
            </a:r>
            <a:endParaRPr lang="en-US" sz="36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800" dirty="0">
                <a:solidFill>
                  <a:srgbClr val="475569"/>
                </a:solidFill>
                <a:latin typeface="Calibri" pitchFamily="34" charset="0"/>
                <a:ea typeface="Calibri" pitchFamily="34" charset="-122"/>
                <a:cs typeface="Calibri" pitchFamily="34" charset="-120"/>
              </a:rPr>
              <a:t>Code as usual — CodeTrackr measures it, groups make it competitive, insights make it useful</a:t>
            </a:r>
            <a:endParaRPr lang="en-US" sz="1800" dirty="0"/>
          </a:p>
        </p:txBody>
      </p:sp>
      <p:sp>
        <p:nvSpPr>
          <p:cNvPr id="4" name="Shape 2"/>
          <p:cNvSpPr/>
          <p:nvPr/>
        </p:nvSpPr>
        <p:spPr>
          <a:xfrm>
            <a:off x="548640" y="1874520"/>
            <a:ext cx="2487168" cy="3246120"/>
          </a:xfrm>
          <a:prstGeom prst="roundRect">
            <a:avLst>
              <a:gd name="adj" fmla="val 4412"/>
            </a:avLst>
          </a:prstGeom>
          <a:solidFill>
            <a:srgbClr val="F1F5F9"/>
          </a:solidFill>
          <a:ln/>
        </p:spPr>
      </p:sp>
      <p:sp>
        <p:nvSpPr>
          <p:cNvPr id="5" name="Shape 3"/>
          <p:cNvSpPr/>
          <p:nvPr/>
        </p:nvSpPr>
        <p:spPr>
          <a:xfrm>
            <a:off x="1312164" y="2240280"/>
            <a:ext cx="960120" cy="960120"/>
          </a:xfrm>
          <a:prstGeom prst="ellipse">
            <a:avLst/>
          </a:prstGeom>
          <a:solidFill>
            <a:srgbClr val="10B981"/>
          </a:solidFill>
          <a:ln/>
        </p:spPr>
      </p:sp>
      <p:pic>
        <p:nvPicPr>
          <p:cNvPr id="6" name="Image 0" descr="preencoded.png">    </p:cNvPr>
          <p:cNvPicPr>
            <a:picLocks noChangeAspect="1"/>
          </p:cNvPicPr>
          <p:nvPr/>
        </p:nvPicPr>
        <p:blipFill>
          <a:blip r:embed="rId1"/>
          <a:stretch>
            <a:fillRect/>
          </a:stretch>
        </p:blipFill>
        <p:spPr>
          <a:xfrm>
            <a:off x="1552194" y="2480310"/>
            <a:ext cx="480060" cy="480060"/>
          </a:xfrm>
          <a:prstGeom prst="rect">
            <a:avLst/>
          </a:prstGeom>
        </p:spPr>
      </p:pic>
      <p:sp>
        <p:nvSpPr>
          <p:cNvPr id="7" name="Text 4"/>
          <p:cNvSpPr txBox="1"/>
          <p:nvPr/>
        </p:nvSpPr>
        <p:spPr>
          <a:xfrm>
            <a:off x="822960" y="2103120"/>
            <a:ext cx="731520" cy="320040"/>
          </a:xfrm>
          <a:prstGeom prst="rect">
            <a:avLst/>
          </a:prstGeom>
          <a:noFill/>
          <a:ln/>
        </p:spPr>
        <p:txBody>
          <a:bodyPr wrap="square" lIns="0" tIns="0" rIns="0" bIns="0" rtlCol="0" anchor="ctr"/>
          <a:lstStyle/>
          <a:p>
            <a:pPr indent="0" marL="0">
              <a:buNone/>
            </a:pPr>
            <a:r>
              <a:rPr lang="en-US" sz="1300" b="1" dirty="0">
                <a:solidFill>
                  <a:srgbClr val="94A3B8"/>
                </a:solidFill>
                <a:latin typeface="Courier New" pitchFamily="34" charset="0"/>
                <a:ea typeface="Courier New" pitchFamily="34" charset="-122"/>
                <a:cs typeface="Courier New" pitchFamily="34" charset="-120"/>
              </a:rPr>
              <a:t>01</a:t>
            </a:r>
            <a:endParaRPr lang="en-US" sz="1300" dirty="0"/>
          </a:p>
        </p:txBody>
      </p:sp>
      <p:sp>
        <p:nvSpPr>
          <p:cNvPr id="8" name="Text 5"/>
          <p:cNvSpPr txBox="1"/>
          <p:nvPr/>
        </p:nvSpPr>
        <p:spPr>
          <a:xfrm>
            <a:off x="822960" y="3429000"/>
            <a:ext cx="1938528" cy="457200"/>
          </a:xfrm>
          <a:prstGeom prst="rect">
            <a:avLst/>
          </a:prstGeom>
          <a:noFill/>
          <a:ln/>
        </p:spPr>
        <p:txBody>
          <a:bodyPr wrap="square" lIns="0" tIns="0" rIns="0" bIns="0" rtlCol="0" anchor="ctr"/>
          <a:lstStyle/>
          <a:p>
            <a:pPr algn="ctr" indent="0" marL="0">
              <a:buNone/>
            </a:pPr>
            <a:r>
              <a:rPr lang="en-US" sz="1900" b="1" dirty="0">
                <a:solidFill>
                  <a:srgbClr val="0F172A"/>
                </a:solidFill>
                <a:latin typeface="Calibri" pitchFamily="34" charset="0"/>
                <a:ea typeface="Calibri" pitchFamily="34" charset="-122"/>
                <a:cs typeface="Calibri" pitchFamily="34" charset="-120"/>
              </a:rPr>
              <a:t>Install it once</a:t>
            </a:r>
            <a:endParaRPr lang="en-US" sz="1900" dirty="0"/>
          </a:p>
        </p:txBody>
      </p:sp>
      <p:sp>
        <p:nvSpPr>
          <p:cNvPr id="9" name="Text 6"/>
          <p:cNvSpPr txBox="1"/>
          <p:nvPr/>
        </p:nvSpPr>
        <p:spPr>
          <a:xfrm>
            <a:off x="822960" y="3931920"/>
            <a:ext cx="1938528" cy="914400"/>
          </a:xfrm>
          <a:prstGeom prst="rect">
            <a:avLst/>
          </a:prstGeom>
          <a:noFill/>
          <a:ln/>
        </p:spPr>
        <p:txBody>
          <a:bodyPr wrap="square" lIns="0" tIns="0" rIns="0" bIns="0" rtlCol="0" anchor="t"/>
          <a:lstStyle/>
          <a:p>
            <a:pPr algn="ctr" indent="0" marL="0">
              <a:buNone/>
            </a:pPr>
            <a:r>
              <a:rPr lang="en-US" sz="1400" dirty="0">
                <a:solidFill>
                  <a:srgbClr val="475569"/>
                </a:solidFill>
                <a:latin typeface="Calibri" pitchFamily="34" charset="0"/>
                <a:ea typeface="Calibri" pitchFamily="34" charset="-122"/>
                <a:cs typeface="Calibri" pitchFamily="34" charset="-120"/>
              </a:rPr>
              <a:t>Add CodeTrackr to VS Code and paste your personal key</a:t>
            </a:r>
            <a:endParaRPr lang="en-US" sz="1400" dirty="0"/>
          </a:p>
        </p:txBody>
      </p:sp>
      <p:sp>
        <p:nvSpPr>
          <p:cNvPr id="10" name="Shape 7"/>
          <p:cNvSpPr/>
          <p:nvPr/>
        </p:nvSpPr>
        <p:spPr>
          <a:xfrm>
            <a:off x="3127248" y="3497580"/>
            <a:ext cx="199034" cy="0"/>
          </a:xfrm>
          <a:prstGeom prst="line">
            <a:avLst/>
          </a:prstGeom>
          <a:noFill/>
          <a:ln w="25400">
            <a:solidFill>
              <a:srgbClr val="10B981"/>
            </a:solidFill>
            <a:prstDash val="solid"/>
            <a:tailEnd type="triangle"/>
          </a:ln>
        </p:spPr>
      </p:sp>
      <p:sp>
        <p:nvSpPr>
          <p:cNvPr id="11" name="Shape 8"/>
          <p:cNvSpPr/>
          <p:nvPr/>
        </p:nvSpPr>
        <p:spPr>
          <a:xfrm>
            <a:off x="3417722" y="1874520"/>
            <a:ext cx="2487168" cy="3246120"/>
          </a:xfrm>
          <a:prstGeom prst="roundRect">
            <a:avLst>
              <a:gd name="adj" fmla="val 4412"/>
            </a:avLst>
          </a:prstGeom>
          <a:solidFill>
            <a:srgbClr val="F1F5F9"/>
          </a:solidFill>
          <a:ln/>
        </p:spPr>
      </p:sp>
      <p:sp>
        <p:nvSpPr>
          <p:cNvPr id="12" name="Shape 9"/>
          <p:cNvSpPr/>
          <p:nvPr/>
        </p:nvSpPr>
        <p:spPr>
          <a:xfrm>
            <a:off x="4181246" y="2240280"/>
            <a:ext cx="960120" cy="960120"/>
          </a:xfrm>
          <a:prstGeom prst="ellipse">
            <a:avLst/>
          </a:prstGeom>
          <a:solidFill>
            <a:srgbClr val="10B981"/>
          </a:solidFill>
          <a:ln/>
        </p:spPr>
      </p:sp>
      <p:pic>
        <p:nvPicPr>
          <p:cNvPr id="13" name="Image 1" descr="preencoded.png">    </p:cNvPr>
          <p:cNvPicPr>
            <a:picLocks noChangeAspect="1"/>
          </p:cNvPicPr>
          <p:nvPr/>
        </p:nvPicPr>
        <p:blipFill>
          <a:blip r:embed="rId2"/>
          <a:stretch>
            <a:fillRect/>
          </a:stretch>
        </p:blipFill>
        <p:spPr>
          <a:xfrm>
            <a:off x="4421276" y="2480310"/>
            <a:ext cx="480060" cy="480060"/>
          </a:xfrm>
          <a:prstGeom prst="rect">
            <a:avLst/>
          </a:prstGeom>
        </p:spPr>
      </p:pic>
      <p:sp>
        <p:nvSpPr>
          <p:cNvPr id="14" name="Text 10"/>
          <p:cNvSpPr txBox="1"/>
          <p:nvPr/>
        </p:nvSpPr>
        <p:spPr>
          <a:xfrm>
            <a:off x="3692042" y="2103120"/>
            <a:ext cx="731520" cy="320040"/>
          </a:xfrm>
          <a:prstGeom prst="rect">
            <a:avLst/>
          </a:prstGeom>
          <a:noFill/>
          <a:ln/>
        </p:spPr>
        <p:txBody>
          <a:bodyPr wrap="square" lIns="0" tIns="0" rIns="0" bIns="0" rtlCol="0" anchor="ctr"/>
          <a:lstStyle/>
          <a:p>
            <a:pPr indent="0" marL="0">
              <a:buNone/>
            </a:pPr>
            <a:r>
              <a:rPr lang="en-US" sz="1300" b="1" dirty="0">
                <a:solidFill>
                  <a:srgbClr val="94A3B8"/>
                </a:solidFill>
                <a:latin typeface="Courier New" pitchFamily="34" charset="0"/>
                <a:ea typeface="Courier New" pitchFamily="34" charset="-122"/>
                <a:cs typeface="Courier New" pitchFamily="34" charset="-120"/>
              </a:rPr>
              <a:t>02</a:t>
            </a:r>
            <a:endParaRPr lang="en-US" sz="1300" dirty="0"/>
          </a:p>
        </p:txBody>
      </p:sp>
      <p:sp>
        <p:nvSpPr>
          <p:cNvPr id="15" name="Text 11"/>
          <p:cNvSpPr txBox="1"/>
          <p:nvPr/>
        </p:nvSpPr>
        <p:spPr>
          <a:xfrm>
            <a:off x="3692042" y="3429000"/>
            <a:ext cx="1938528" cy="457200"/>
          </a:xfrm>
          <a:prstGeom prst="rect">
            <a:avLst/>
          </a:prstGeom>
          <a:noFill/>
          <a:ln/>
        </p:spPr>
        <p:txBody>
          <a:bodyPr wrap="square" lIns="0" tIns="0" rIns="0" bIns="0" rtlCol="0" anchor="ctr"/>
          <a:lstStyle/>
          <a:p>
            <a:pPr algn="ctr" indent="0" marL="0">
              <a:buNone/>
            </a:pPr>
            <a:r>
              <a:rPr lang="en-US" sz="1900" b="1" dirty="0">
                <a:solidFill>
                  <a:srgbClr val="0F172A"/>
                </a:solidFill>
                <a:latin typeface="Calibri" pitchFamily="34" charset="0"/>
                <a:ea typeface="Calibri" pitchFamily="34" charset="-122"/>
                <a:cs typeface="Calibri" pitchFamily="34" charset="-120"/>
              </a:rPr>
              <a:t>Code as usual</a:t>
            </a:r>
            <a:endParaRPr lang="en-US" sz="1900" dirty="0"/>
          </a:p>
        </p:txBody>
      </p:sp>
      <p:sp>
        <p:nvSpPr>
          <p:cNvPr id="16" name="Text 12"/>
          <p:cNvSpPr txBox="1"/>
          <p:nvPr/>
        </p:nvSpPr>
        <p:spPr>
          <a:xfrm>
            <a:off x="3692042" y="3931920"/>
            <a:ext cx="1938528" cy="914400"/>
          </a:xfrm>
          <a:prstGeom prst="rect">
            <a:avLst/>
          </a:prstGeom>
          <a:noFill/>
          <a:ln/>
        </p:spPr>
        <p:txBody>
          <a:bodyPr wrap="square" lIns="0" tIns="0" rIns="0" bIns="0" rtlCol="0" anchor="t"/>
          <a:lstStyle/>
          <a:p>
            <a:pPr algn="ctr" indent="0" marL="0">
              <a:buNone/>
            </a:pPr>
            <a:r>
              <a:rPr lang="en-US" sz="1400" dirty="0">
                <a:solidFill>
                  <a:srgbClr val="475569"/>
                </a:solidFill>
                <a:latin typeface="Calibri" pitchFamily="34" charset="0"/>
                <a:ea typeface="Calibri" pitchFamily="34" charset="-122"/>
                <a:cs typeface="Calibri" pitchFamily="34" charset="-120"/>
              </a:rPr>
              <a:t>Edits, focus, commits and builds are tracked in the background</a:t>
            </a:r>
            <a:endParaRPr lang="en-US" sz="1400" dirty="0"/>
          </a:p>
        </p:txBody>
      </p:sp>
      <p:sp>
        <p:nvSpPr>
          <p:cNvPr id="17" name="Shape 13"/>
          <p:cNvSpPr/>
          <p:nvPr/>
        </p:nvSpPr>
        <p:spPr>
          <a:xfrm>
            <a:off x="5996330" y="3497580"/>
            <a:ext cx="199034" cy="0"/>
          </a:xfrm>
          <a:prstGeom prst="line">
            <a:avLst/>
          </a:prstGeom>
          <a:noFill/>
          <a:ln w="25400">
            <a:solidFill>
              <a:srgbClr val="10B981"/>
            </a:solidFill>
            <a:prstDash val="solid"/>
            <a:tailEnd type="triangle"/>
          </a:ln>
        </p:spPr>
      </p:sp>
      <p:sp>
        <p:nvSpPr>
          <p:cNvPr id="18" name="Shape 14"/>
          <p:cNvSpPr/>
          <p:nvPr/>
        </p:nvSpPr>
        <p:spPr>
          <a:xfrm>
            <a:off x="6286805" y="1874520"/>
            <a:ext cx="2487168" cy="3246120"/>
          </a:xfrm>
          <a:prstGeom prst="roundRect">
            <a:avLst>
              <a:gd name="adj" fmla="val 4412"/>
            </a:avLst>
          </a:prstGeom>
          <a:solidFill>
            <a:srgbClr val="F1F5F9"/>
          </a:solidFill>
          <a:ln/>
        </p:spPr>
      </p:sp>
      <p:sp>
        <p:nvSpPr>
          <p:cNvPr id="19" name="Shape 15"/>
          <p:cNvSpPr/>
          <p:nvPr/>
        </p:nvSpPr>
        <p:spPr>
          <a:xfrm>
            <a:off x="7050329" y="2240280"/>
            <a:ext cx="960120" cy="960120"/>
          </a:xfrm>
          <a:prstGeom prst="ellipse">
            <a:avLst/>
          </a:prstGeom>
          <a:solidFill>
            <a:srgbClr val="10B981"/>
          </a:solidFill>
          <a:ln/>
        </p:spPr>
      </p:sp>
      <p:pic>
        <p:nvPicPr>
          <p:cNvPr id="20" name="Image 2" descr="preencoded.png">    </p:cNvPr>
          <p:cNvPicPr>
            <a:picLocks noChangeAspect="1"/>
          </p:cNvPicPr>
          <p:nvPr/>
        </p:nvPicPr>
        <p:blipFill>
          <a:blip r:embed="rId3"/>
          <a:stretch>
            <a:fillRect/>
          </a:stretch>
        </p:blipFill>
        <p:spPr>
          <a:xfrm>
            <a:off x="7290359" y="2480310"/>
            <a:ext cx="480060" cy="480060"/>
          </a:xfrm>
          <a:prstGeom prst="rect">
            <a:avLst/>
          </a:prstGeom>
        </p:spPr>
      </p:pic>
      <p:sp>
        <p:nvSpPr>
          <p:cNvPr id="21" name="Text 16"/>
          <p:cNvSpPr txBox="1"/>
          <p:nvPr/>
        </p:nvSpPr>
        <p:spPr>
          <a:xfrm>
            <a:off x="6561125" y="2103120"/>
            <a:ext cx="731520" cy="320040"/>
          </a:xfrm>
          <a:prstGeom prst="rect">
            <a:avLst/>
          </a:prstGeom>
          <a:noFill/>
          <a:ln/>
        </p:spPr>
        <p:txBody>
          <a:bodyPr wrap="square" lIns="0" tIns="0" rIns="0" bIns="0" rtlCol="0" anchor="ctr"/>
          <a:lstStyle/>
          <a:p>
            <a:pPr indent="0" marL="0">
              <a:buNone/>
            </a:pPr>
            <a:r>
              <a:rPr lang="en-US" sz="1300" b="1" dirty="0">
                <a:solidFill>
                  <a:srgbClr val="94A3B8"/>
                </a:solidFill>
                <a:latin typeface="Courier New" pitchFamily="34" charset="0"/>
                <a:ea typeface="Courier New" pitchFamily="34" charset="-122"/>
                <a:cs typeface="Courier New" pitchFamily="34" charset="-120"/>
              </a:rPr>
              <a:t>03</a:t>
            </a:r>
            <a:endParaRPr lang="en-US" sz="1300" dirty="0"/>
          </a:p>
        </p:txBody>
      </p:sp>
      <p:sp>
        <p:nvSpPr>
          <p:cNvPr id="22" name="Text 17"/>
          <p:cNvSpPr txBox="1"/>
          <p:nvPr/>
        </p:nvSpPr>
        <p:spPr>
          <a:xfrm>
            <a:off x="6561125" y="3429000"/>
            <a:ext cx="1938528" cy="457200"/>
          </a:xfrm>
          <a:prstGeom prst="rect">
            <a:avLst/>
          </a:prstGeom>
          <a:noFill/>
          <a:ln/>
        </p:spPr>
        <p:txBody>
          <a:bodyPr wrap="square" lIns="0" tIns="0" rIns="0" bIns="0" rtlCol="0" anchor="ctr"/>
          <a:lstStyle/>
          <a:p>
            <a:pPr algn="ctr" indent="0" marL="0">
              <a:buNone/>
            </a:pPr>
            <a:r>
              <a:rPr lang="en-US" sz="1900" b="1" dirty="0">
                <a:solidFill>
                  <a:srgbClr val="0F172A"/>
                </a:solidFill>
                <a:latin typeface="Calibri" pitchFamily="34" charset="0"/>
                <a:ea typeface="Calibri" pitchFamily="34" charset="-122"/>
                <a:cs typeface="Calibri" pitchFamily="34" charset="-120"/>
              </a:rPr>
              <a:t>Compete in groups</a:t>
            </a:r>
            <a:endParaRPr lang="en-US" sz="1900" dirty="0"/>
          </a:p>
        </p:txBody>
      </p:sp>
      <p:sp>
        <p:nvSpPr>
          <p:cNvPr id="23" name="Text 18"/>
          <p:cNvSpPr txBox="1"/>
          <p:nvPr/>
        </p:nvSpPr>
        <p:spPr>
          <a:xfrm>
            <a:off x="6561125" y="3931920"/>
            <a:ext cx="1938528" cy="914400"/>
          </a:xfrm>
          <a:prstGeom prst="rect">
            <a:avLst/>
          </a:prstGeom>
          <a:noFill/>
          <a:ln/>
        </p:spPr>
        <p:txBody>
          <a:bodyPr wrap="square" lIns="0" tIns="0" rIns="0" bIns="0" rtlCol="0" anchor="t"/>
          <a:lstStyle/>
          <a:p>
            <a:pPr algn="ctr" indent="0" marL="0">
              <a:buNone/>
            </a:pPr>
            <a:r>
              <a:rPr lang="en-US" sz="1400" dirty="0">
                <a:solidFill>
                  <a:srgbClr val="475569"/>
                </a:solidFill>
                <a:latin typeface="Calibri" pitchFamily="34" charset="0"/>
                <a:ea typeface="Calibri" pitchFamily="34" charset="-122"/>
                <a:cs typeface="Calibri" pitchFamily="34" charset="-120"/>
              </a:rPr>
              <a:t>Friends see who put in the hours, lines, commits and fixes</a:t>
            </a:r>
            <a:endParaRPr lang="en-US" sz="1400" dirty="0"/>
          </a:p>
        </p:txBody>
      </p:sp>
      <p:sp>
        <p:nvSpPr>
          <p:cNvPr id="24" name="Shape 19"/>
          <p:cNvSpPr/>
          <p:nvPr/>
        </p:nvSpPr>
        <p:spPr>
          <a:xfrm>
            <a:off x="8865413" y="3497580"/>
            <a:ext cx="199034" cy="0"/>
          </a:xfrm>
          <a:prstGeom prst="line">
            <a:avLst/>
          </a:prstGeom>
          <a:noFill/>
          <a:ln w="25400">
            <a:solidFill>
              <a:srgbClr val="10B981"/>
            </a:solidFill>
            <a:prstDash val="solid"/>
            <a:tailEnd type="triangle"/>
          </a:ln>
        </p:spPr>
      </p:sp>
      <p:sp>
        <p:nvSpPr>
          <p:cNvPr id="25" name="Shape 20"/>
          <p:cNvSpPr/>
          <p:nvPr/>
        </p:nvSpPr>
        <p:spPr>
          <a:xfrm>
            <a:off x="9155887" y="1874520"/>
            <a:ext cx="2487168" cy="3246120"/>
          </a:xfrm>
          <a:prstGeom prst="roundRect">
            <a:avLst>
              <a:gd name="adj" fmla="val 4412"/>
            </a:avLst>
          </a:prstGeom>
          <a:solidFill>
            <a:srgbClr val="F1F5F9"/>
          </a:solidFill>
          <a:ln/>
        </p:spPr>
      </p:sp>
      <p:sp>
        <p:nvSpPr>
          <p:cNvPr id="26" name="Shape 21"/>
          <p:cNvSpPr/>
          <p:nvPr/>
        </p:nvSpPr>
        <p:spPr>
          <a:xfrm>
            <a:off x="9919411" y="2240280"/>
            <a:ext cx="960120" cy="960120"/>
          </a:xfrm>
          <a:prstGeom prst="ellipse">
            <a:avLst/>
          </a:prstGeom>
          <a:solidFill>
            <a:srgbClr val="F59E0B"/>
          </a:solidFill>
          <a:ln/>
        </p:spPr>
      </p:sp>
      <p:pic>
        <p:nvPicPr>
          <p:cNvPr id="27" name="Image 3" descr="preencoded.png">    </p:cNvPr>
          <p:cNvPicPr>
            <a:picLocks noChangeAspect="1"/>
          </p:cNvPicPr>
          <p:nvPr/>
        </p:nvPicPr>
        <p:blipFill>
          <a:blip r:embed="rId4"/>
          <a:stretch>
            <a:fillRect/>
          </a:stretch>
        </p:blipFill>
        <p:spPr>
          <a:xfrm>
            <a:off x="10159441" y="2480310"/>
            <a:ext cx="480060" cy="480060"/>
          </a:xfrm>
          <a:prstGeom prst="rect">
            <a:avLst/>
          </a:prstGeom>
        </p:spPr>
      </p:pic>
      <p:sp>
        <p:nvSpPr>
          <p:cNvPr id="28" name="Text 22"/>
          <p:cNvSpPr txBox="1"/>
          <p:nvPr/>
        </p:nvSpPr>
        <p:spPr>
          <a:xfrm>
            <a:off x="9430207" y="2103120"/>
            <a:ext cx="731520" cy="320040"/>
          </a:xfrm>
          <a:prstGeom prst="rect">
            <a:avLst/>
          </a:prstGeom>
          <a:noFill/>
          <a:ln/>
        </p:spPr>
        <p:txBody>
          <a:bodyPr wrap="square" lIns="0" tIns="0" rIns="0" bIns="0" rtlCol="0" anchor="ctr"/>
          <a:lstStyle/>
          <a:p>
            <a:pPr indent="0" marL="0">
              <a:buNone/>
            </a:pPr>
            <a:r>
              <a:rPr lang="en-US" sz="1300" b="1" dirty="0">
                <a:solidFill>
                  <a:srgbClr val="94A3B8"/>
                </a:solidFill>
                <a:latin typeface="Courier New" pitchFamily="34" charset="0"/>
                <a:ea typeface="Courier New" pitchFamily="34" charset="-122"/>
                <a:cs typeface="Courier New" pitchFamily="34" charset="-120"/>
              </a:rPr>
              <a:t>04</a:t>
            </a:r>
            <a:endParaRPr lang="en-US" sz="1300" dirty="0"/>
          </a:p>
        </p:txBody>
      </p:sp>
      <p:sp>
        <p:nvSpPr>
          <p:cNvPr id="29" name="Text 23"/>
          <p:cNvSpPr txBox="1"/>
          <p:nvPr/>
        </p:nvSpPr>
        <p:spPr>
          <a:xfrm>
            <a:off x="9430207" y="3429000"/>
            <a:ext cx="1938528" cy="457200"/>
          </a:xfrm>
          <a:prstGeom prst="rect">
            <a:avLst/>
          </a:prstGeom>
          <a:noFill/>
          <a:ln/>
        </p:spPr>
        <p:txBody>
          <a:bodyPr wrap="square" lIns="0" tIns="0" rIns="0" bIns="0" rtlCol="0" anchor="ctr"/>
          <a:lstStyle/>
          <a:p>
            <a:pPr algn="ctr" indent="0" marL="0">
              <a:buNone/>
            </a:pPr>
            <a:r>
              <a:rPr lang="en-US" sz="1900" b="1" dirty="0">
                <a:solidFill>
                  <a:srgbClr val="0F172A"/>
                </a:solidFill>
                <a:latin typeface="Calibri" pitchFamily="34" charset="0"/>
                <a:ea typeface="Calibri" pitchFamily="34" charset="-122"/>
                <a:cs typeface="Calibri" pitchFamily="34" charset="-120"/>
              </a:rPr>
              <a:t>Get insights</a:t>
            </a:r>
            <a:endParaRPr lang="en-US" sz="1900" dirty="0"/>
          </a:p>
        </p:txBody>
      </p:sp>
      <p:sp>
        <p:nvSpPr>
          <p:cNvPr id="30" name="Text 24"/>
          <p:cNvSpPr txBox="1"/>
          <p:nvPr/>
        </p:nvSpPr>
        <p:spPr>
          <a:xfrm>
            <a:off x="9430207" y="3931920"/>
            <a:ext cx="1938528" cy="914400"/>
          </a:xfrm>
          <a:prstGeom prst="rect">
            <a:avLst/>
          </a:prstGeom>
          <a:noFill/>
          <a:ln/>
        </p:spPr>
        <p:txBody>
          <a:bodyPr wrap="square" lIns="0" tIns="0" rIns="0" bIns="0" rtlCol="0" anchor="t"/>
          <a:lstStyle/>
          <a:p>
            <a:pPr algn="ctr" indent="0" marL="0">
              <a:buNone/>
            </a:pPr>
            <a:r>
              <a:rPr lang="en-US" sz="1400" dirty="0">
                <a:solidFill>
                  <a:srgbClr val="475569"/>
                </a:solidFill>
                <a:latin typeface="Calibri" pitchFamily="34" charset="0"/>
                <a:ea typeface="Calibri" pitchFamily="34" charset="-122"/>
                <a:cs typeface="Calibri" pitchFamily="34" charset="-120"/>
              </a:rPr>
              <a:t>Private metrics show how you work — not just how long</a:t>
            </a:r>
            <a:endParaRPr lang="en-US" sz="1400" dirty="0"/>
          </a:p>
        </p:txBody>
      </p:sp>
      <p:sp>
        <p:nvSpPr>
          <p:cNvPr id="31" name="Shape 25"/>
          <p:cNvSpPr/>
          <p:nvPr/>
        </p:nvSpPr>
        <p:spPr>
          <a:xfrm>
            <a:off x="548640" y="5532120"/>
            <a:ext cx="11094415" cy="731520"/>
          </a:xfrm>
          <a:prstGeom prst="roundRect">
            <a:avLst>
              <a:gd name="adj" fmla="val 50000"/>
            </a:avLst>
          </a:prstGeom>
          <a:solidFill>
            <a:srgbClr val="0B1220"/>
          </a:solidFill>
          <a:ln/>
        </p:spPr>
      </p:sp>
      <p:sp>
        <p:nvSpPr>
          <p:cNvPr id="32" name="Shape 26"/>
          <p:cNvSpPr/>
          <p:nvPr/>
        </p:nvSpPr>
        <p:spPr>
          <a:xfrm>
            <a:off x="685800" y="5623560"/>
            <a:ext cx="548640" cy="548640"/>
          </a:xfrm>
          <a:prstGeom prst="ellipse">
            <a:avLst/>
          </a:prstGeom>
          <a:solidFill>
            <a:srgbClr val="10B981"/>
          </a:solidFill>
          <a:ln/>
        </p:spPr>
      </p:sp>
      <p:pic>
        <p:nvPicPr>
          <p:cNvPr id="33" name="Image 4" descr="preencoded.png">    </p:cNvPr>
          <p:cNvPicPr>
            <a:picLocks noChangeAspect="1"/>
          </p:cNvPicPr>
          <p:nvPr/>
        </p:nvPicPr>
        <p:blipFill>
          <a:blip r:embed="rId5"/>
          <a:stretch>
            <a:fillRect/>
          </a:stretch>
        </p:blipFill>
        <p:spPr>
          <a:xfrm>
            <a:off x="822960" y="5760720"/>
            <a:ext cx="274320" cy="274320"/>
          </a:xfrm>
          <a:prstGeom prst="rect">
            <a:avLst/>
          </a:prstGeom>
        </p:spPr>
      </p:pic>
      <p:sp>
        <p:nvSpPr>
          <p:cNvPr id="34" name="Text 27"/>
          <p:cNvSpPr txBox="1"/>
          <p:nvPr/>
        </p:nvSpPr>
        <p:spPr>
          <a:xfrm>
            <a:off x="1417320" y="5532120"/>
            <a:ext cx="9997135" cy="7315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Privacy by design — only counts and file names ever leave your editor, never your code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0F172A"/>
                </a:solidFill>
                <a:latin typeface="Calibri" pitchFamily="34" charset="0"/>
                <a:ea typeface="Calibri" pitchFamily="34" charset="-122"/>
                <a:cs typeface="Calibri" pitchFamily="34" charset="-120"/>
              </a:rPr>
              <a:t>How the platform evolved</a:t>
            </a:r>
            <a:endParaRPr lang="en-US" sz="36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800" dirty="0">
                <a:solidFill>
                  <a:srgbClr val="475569"/>
                </a:solidFill>
                <a:latin typeface="Calibri" pitchFamily="34" charset="0"/>
                <a:ea typeface="Calibri" pitchFamily="34" charset="-122"/>
                <a:cs typeface="Calibri" pitchFamily="34" charset="-120"/>
              </a:rPr>
              <a:t>Six milestones, each building on the last</a:t>
            </a:r>
            <a:endParaRPr lang="en-US" sz="1800" dirty="0"/>
          </a:p>
        </p:txBody>
      </p:sp>
      <p:sp>
        <p:nvSpPr>
          <p:cNvPr id="4" name="Shape 2"/>
          <p:cNvSpPr/>
          <p:nvPr/>
        </p:nvSpPr>
        <p:spPr>
          <a:xfrm>
            <a:off x="1005840" y="2514600"/>
            <a:ext cx="9245346" cy="0"/>
          </a:xfrm>
          <a:prstGeom prst="line">
            <a:avLst/>
          </a:prstGeom>
          <a:noFill/>
          <a:ln w="38100">
            <a:solidFill>
              <a:srgbClr val="CBD5E1"/>
            </a:solidFill>
            <a:prstDash val="solid"/>
          </a:ln>
        </p:spPr>
      </p:sp>
      <p:sp>
        <p:nvSpPr>
          <p:cNvPr id="5" name="Shape 3"/>
          <p:cNvSpPr/>
          <p:nvPr/>
        </p:nvSpPr>
        <p:spPr>
          <a:xfrm>
            <a:off x="640080" y="2148840"/>
            <a:ext cx="731520" cy="731520"/>
          </a:xfrm>
          <a:prstGeom prst="ellipse">
            <a:avLst/>
          </a:prstGeom>
          <a:solidFill>
            <a:srgbClr val="10B981"/>
          </a:solidFill>
          <a:ln/>
        </p:spPr>
      </p:sp>
      <p:pic>
        <p:nvPicPr>
          <p:cNvPr id="6" name="Image 0" descr="preencoded.png">    </p:cNvPr>
          <p:cNvPicPr>
            <a:picLocks noChangeAspect="1"/>
          </p:cNvPicPr>
          <p:nvPr/>
        </p:nvPicPr>
        <p:blipFill>
          <a:blip r:embed="rId1"/>
          <a:stretch>
            <a:fillRect/>
          </a:stretch>
        </p:blipFill>
        <p:spPr>
          <a:xfrm>
            <a:off x="822960" y="2331720"/>
            <a:ext cx="365760" cy="365760"/>
          </a:xfrm>
          <a:prstGeom prst="rect">
            <a:avLst/>
          </a:prstGeom>
        </p:spPr>
      </p:pic>
      <p:sp>
        <p:nvSpPr>
          <p:cNvPr id="7" name="Text 4"/>
          <p:cNvSpPr txBox="1"/>
          <p:nvPr/>
        </p:nvSpPr>
        <p:spPr>
          <a:xfrm>
            <a:off x="640080" y="3200400"/>
            <a:ext cx="1620469" cy="41148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Security first</a:t>
            </a:r>
            <a:endParaRPr lang="en-US" sz="1700" dirty="0"/>
          </a:p>
        </p:txBody>
      </p:sp>
      <p:sp>
        <p:nvSpPr>
          <p:cNvPr id="8" name="Text 5"/>
          <p:cNvSpPr txBox="1"/>
          <p:nvPr/>
        </p:nvSpPr>
        <p:spPr>
          <a:xfrm>
            <a:off x="640080" y="3657600"/>
            <a:ext cx="1620469" cy="17373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Sign-in on every data route, hashed group passwords, deeper tracking</a:t>
            </a:r>
            <a:endParaRPr lang="en-US" sz="1500" dirty="0"/>
          </a:p>
        </p:txBody>
      </p:sp>
      <p:sp>
        <p:nvSpPr>
          <p:cNvPr id="9" name="Shape 6"/>
          <p:cNvSpPr/>
          <p:nvPr/>
        </p:nvSpPr>
        <p:spPr>
          <a:xfrm>
            <a:off x="2489149" y="2148840"/>
            <a:ext cx="731520" cy="731520"/>
          </a:xfrm>
          <a:prstGeom prst="ellipse">
            <a:avLst/>
          </a:prstGeom>
          <a:solidFill>
            <a:srgbClr val="10B981"/>
          </a:solidFill>
          <a:ln/>
        </p:spPr>
      </p:sp>
      <p:pic>
        <p:nvPicPr>
          <p:cNvPr id="10" name="Image 1" descr="preencoded.png">    </p:cNvPr>
          <p:cNvPicPr>
            <a:picLocks noChangeAspect="1"/>
          </p:cNvPicPr>
          <p:nvPr/>
        </p:nvPicPr>
        <p:blipFill>
          <a:blip r:embed="rId2"/>
          <a:stretch>
            <a:fillRect/>
          </a:stretch>
        </p:blipFill>
        <p:spPr>
          <a:xfrm>
            <a:off x="2672029" y="2331720"/>
            <a:ext cx="365760" cy="365760"/>
          </a:xfrm>
          <a:prstGeom prst="rect">
            <a:avLst/>
          </a:prstGeom>
        </p:spPr>
      </p:pic>
      <p:sp>
        <p:nvSpPr>
          <p:cNvPr id="11" name="Text 7"/>
          <p:cNvSpPr txBox="1"/>
          <p:nvPr/>
        </p:nvSpPr>
        <p:spPr>
          <a:xfrm>
            <a:off x="2489149" y="3200400"/>
            <a:ext cx="1620469" cy="41148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Leaner storage</a:t>
            </a:r>
            <a:endParaRPr lang="en-US" sz="1700" dirty="0"/>
          </a:p>
        </p:txBody>
      </p:sp>
      <p:sp>
        <p:nvSpPr>
          <p:cNvPr id="12" name="Text 8"/>
          <p:cNvSpPr txBox="1"/>
          <p:nvPr/>
        </p:nvSpPr>
        <p:spPr>
          <a:xfrm>
            <a:off x="2489149" y="3657600"/>
            <a:ext cx="1620469" cy="17373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Activity merged into 10-minute records, nightly daily summaries</a:t>
            </a:r>
            <a:endParaRPr lang="en-US" sz="1500" dirty="0"/>
          </a:p>
        </p:txBody>
      </p:sp>
      <p:sp>
        <p:nvSpPr>
          <p:cNvPr id="13" name="Shape 9"/>
          <p:cNvSpPr/>
          <p:nvPr/>
        </p:nvSpPr>
        <p:spPr>
          <a:xfrm>
            <a:off x="4338218" y="2148840"/>
            <a:ext cx="731520" cy="731520"/>
          </a:xfrm>
          <a:prstGeom prst="ellipse">
            <a:avLst/>
          </a:prstGeom>
          <a:solidFill>
            <a:srgbClr val="10B981"/>
          </a:solidFill>
          <a:ln/>
        </p:spPr>
      </p:sp>
      <p:pic>
        <p:nvPicPr>
          <p:cNvPr id="14" name="Image 2" descr="preencoded.png">    </p:cNvPr>
          <p:cNvPicPr>
            <a:picLocks noChangeAspect="1"/>
          </p:cNvPicPr>
          <p:nvPr/>
        </p:nvPicPr>
        <p:blipFill>
          <a:blip r:embed="rId3"/>
          <a:stretch>
            <a:fillRect/>
          </a:stretch>
        </p:blipFill>
        <p:spPr>
          <a:xfrm>
            <a:off x="4521098" y="2331720"/>
            <a:ext cx="365760" cy="365760"/>
          </a:xfrm>
          <a:prstGeom prst="rect">
            <a:avLst/>
          </a:prstGeom>
        </p:spPr>
      </p:pic>
      <p:sp>
        <p:nvSpPr>
          <p:cNvPr id="15" name="Text 10"/>
          <p:cNvSpPr txBox="1"/>
          <p:nvPr/>
        </p:nvSpPr>
        <p:spPr>
          <a:xfrm>
            <a:off x="4338218" y="3200400"/>
            <a:ext cx="1620469" cy="41148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Hardened API</a:t>
            </a:r>
            <a:endParaRPr lang="en-US" sz="1700" dirty="0"/>
          </a:p>
        </p:txBody>
      </p:sp>
      <p:sp>
        <p:nvSpPr>
          <p:cNvPr id="16" name="Text 11"/>
          <p:cNvSpPr txBox="1"/>
          <p:nvPr/>
        </p:nvSpPr>
        <p:spPr>
          <a:xfrm>
            <a:off x="4338218" y="3657600"/>
            <a:ext cx="1620469" cy="17373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Helmet, rate limiting, input validation, CI and a green build</a:t>
            </a:r>
            <a:endParaRPr lang="en-US" sz="1500" dirty="0"/>
          </a:p>
        </p:txBody>
      </p:sp>
      <p:sp>
        <p:nvSpPr>
          <p:cNvPr id="17" name="Shape 12"/>
          <p:cNvSpPr/>
          <p:nvPr/>
        </p:nvSpPr>
        <p:spPr>
          <a:xfrm>
            <a:off x="6187288" y="2148840"/>
            <a:ext cx="731520" cy="731520"/>
          </a:xfrm>
          <a:prstGeom prst="ellipse">
            <a:avLst/>
          </a:prstGeom>
          <a:solidFill>
            <a:srgbClr val="10B981"/>
          </a:solidFill>
          <a:ln/>
        </p:spPr>
      </p:sp>
      <p:pic>
        <p:nvPicPr>
          <p:cNvPr id="18" name="Image 3" descr="preencoded.png">    </p:cNvPr>
          <p:cNvPicPr>
            <a:picLocks noChangeAspect="1"/>
          </p:cNvPicPr>
          <p:nvPr/>
        </p:nvPicPr>
        <p:blipFill>
          <a:blip r:embed="rId4"/>
          <a:stretch>
            <a:fillRect/>
          </a:stretch>
        </p:blipFill>
        <p:spPr>
          <a:xfrm>
            <a:off x="6370168" y="2331720"/>
            <a:ext cx="365760" cy="365760"/>
          </a:xfrm>
          <a:prstGeom prst="rect">
            <a:avLst/>
          </a:prstGeom>
        </p:spPr>
      </p:pic>
      <p:sp>
        <p:nvSpPr>
          <p:cNvPr id="19" name="Text 13"/>
          <p:cNvSpPr txBox="1"/>
          <p:nvPr/>
        </p:nvSpPr>
        <p:spPr>
          <a:xfrm>
            <a:off x="6187288" y="3200400"/>
            <a:ext cx="1620469" cy="41148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Richer insights</a:t>
            </a:r>
            <a:endParaRPr lang="en-US" sz="1700" dirty="0"/>
          </a:p>
        </p:txBody>
      </p:sp>
      <p:sp>
        <p:nvSpPr>
          <p:cNvPr id="20" name="Text 14"/>
          <p:cNvSpPr txBox="1"/>
          <p:nvPr/>
        </p:nvSpPr>
        <p:spPr>
          <a:xfrm>
            <a:off x="6187288" y="3657600"/>
            <a:ext cx="1620469" cy="17373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No lost uploads, precise metrics, a 13-rule insight engine</a:t>
            </a:r>
            <a:endParaRPr lang="en-US" sz="1500" dirty="0"/>
          </a:p>
        </p:txBody>
      </p:sp>
      <p:sp>
        <p:nvSpPr>
          <p:cNvPr id="21" name="Shape 15"/>
          <p:cNvSpPr/>
          <p:nvPr/>
        </p:nvSpPr>
        <p:spPr>
          <a:xfrm>
            <a:off x="8036357" y="2148840"/>
            <a:ext cx="731520" cy="731520"/>
          </a:xfrm>
          <a:prstGeom prst="ellipse">
            <a:avLst/>
          </a:prstGeom>
          <a:solidFill>
            <a:srgbClr val="10B981"/>
          </a:solidFill>
          <a:ln/>
        </p:spPr>
      </p:sp>
      <p:pic>
        <p:nvPicPr>
          <p:cNvPr id="22" name="Image 4" descr="preencoded.png">    </p:cNvPr>
          <p:cNvPicPr>
            <a:picLocks noChangeAspect="1"/>
          </p:cNvPicPr>
          <p:nvPr/>
        </p:nvPicPr>
        <p:blipFill>
          <a:blip r:embed="rId5"/>
          <a:stretch>
            <a:fillRect/>
          </a:stretch>
        </p:blipFill>
        <p:spPr>
          <a:xfrm>
            <a:off x="8219237" y="2331720"/>
            <a:ext cx="365760" cy="365760"/>
          </a:xfrm>
          <a:prstGeom prst="rect">
            <a:avLst/>
          </a:prstGeom>
        </p:spPr>
      </p:pic>
      <p:sp>
        <p:nvSpPr>
          <p:cNvPr id="23" name="Text 16"/>
          <p:cNvSpPr txBox="1"/>
          <p:nvPr/>
        </p:nvSpPr>
        <p:spPr>
          <a:xfrm>
            <a:off x="8036357" y="3200400"/>
            <a:ext cx="1620469" cy="41148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Live</a:t>
            </a:r>
            <a:endParaRPr lang="en-US" sz="1700" dirty="0"/>
          </a:p>
        </p:txBody>
      </p:sp>
      <p:sp>
        <p:nvSpPr>
          <p:cNvPr id="24" name="Text 17"/>
          <p:cNvSpPr txBox="1"/>
          <p:nvPr/>
        </p:nvSpPr>
        <p:spPr>
          <a:xfrm>
            <a:off x="8036357" y="3657600"/>
            <a:ext cx="1620469" cy="17373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Deployed and verified end to end, with scheduled jobs automated</a:t>
            </a:r>
            <a:endParaRPr lang="en-US" sz="1500" dirty="0"/>
          </a:p>
        </p:txBody>
      </p:sp>
      <p:sp>
        <p:nvSpPr>
          <p:cNvPr id="25" name="Shape 18"/>
          <p:cNvSpPr/>
          <p:nvPr/>
        </p:nvSpPr>
        <p:spPr>
          <a:xfrm>
            <a:off x="9885426" y="2148840"/>
            <a:ext cx="731520" cy="731520"/>
          </a:xfrm>
          <a:prstGeom prst="ellipse">
            <a:avLst/>
          </a:prstGeom>
          <a:solidFill>
            <a:srgbClr val="F59E0B"/>
          </a:solidFill>
          <a:ln/>
        </p:spPr>
      </p:sp>
      <p:pic>
        <p:nvPicPr>
          <p:cNvPr id="26" name="Image 5" descr="preencoded.png">    </p:cNvPr>
          <p:cNvPicPr>
            <a:picLocks noChangeAspect="1"/>
          </p:cNvPicPr>
          <p:nvPr/>
        </p:nvPicPr>
        <p:blipFill>
          <a:blip r:embed="rId6"/>
          <a:stretch>
            <a:fillRect/>
          </a:stretch>
        </p:blipFill>
        <p:spPr>
          <a:xfrm>
            <a:off x="10068306" y="2331720"/>
            <a:ext cx="365760" cy="365760"/>
          </a:xfrm>
          <a:prstGeom prst="rect">
            <a:avLst/>
          </a:prstGeom>
        </p:spPr>
      </p:pic>
      <p:sp>
        <p:nvSpPr>
          <p:cNvPr id="27" name="Text 19"/>
          <p:cNvSpPr txBox="1"/>
          <p:nvPr/>
        </p:nvSpPr>
        <p:spPr>
          <a:xfrm>
            <a:off x="9885426" y="3200400"/>
            <a:ext cx="1620469" cy="411480"/>
          </a:xfrm>
          <a:prstGeom prst="rect">
            <a:avLst/>
          </a:prstGeom>
          <a:noFill/>
          <a:ln/>
        </p:spPr>
        <p:txBody>
          <a:bodyPr wrap="square" lIns="0" tIns="0" rIns="0" bIns="0" rtlCol="0" anchor="t"/>
          <a:lstStyle/>
          <a:p>
            <a:pPr indent="0" marL="0">
              <a:buNone/>
            </a:pPr>
            <a:r>
              <a:rPr lang="en-US" sz="1700" b="1" dirty="0">
                <a:solidFill>
                  <a:srgbClr val="B45309"/>
                </a:solidFill>
                <a:latin typeface="Calibri" pitchFamily="34" charset="0"/>
                <a:ea typeface="Calibri" pitchFamily="34" charset="-122"/>
                <a:cs typeface="Calibri" pitchFamily="34" charset="-120"/>
              </a:rPr>
              <a:t>ML designed</a:t>
            </a:r>
            <a:endParaRPr lang="en-US" sz="1700" dirty="0"/>
          </a:p>
        </p:txBody>
      </p:sp>
      <p:sp>
        <p:nvSpPr>
          <p:cNvPr id="28" name="Text 20"/>
          <p:cNvSpPr txBox="1"/>
          <p:nvPr/>
        </p:nvSpPr>
        <p:spPr>
          <a:xfrm>
            <a:off x="9885426" y="3657600"/>
            <a:ext cx="1620469" cy="17373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A k-means plan for learning how people code</a:t>
            </a:r>
            <a:endParaRPr lang="en-US" sz="1500" dirty="0"/>
          </a:p>
        </p:txBody>
      </p:sp>
      <p:sp>
        <p:nvSpPr>
          <p:cNvPr id="29" name="Shape 21"/>
          <p:cNvSpPr/>
          <p:nvPr/>
        </p:nvSpPr>
        <p:spPr>
          <a:xfrm>
            <a:off x="548640" y="5577840"/>
            <a:ext cx="11094415" cy="685800"/>
          </a:xfrm>
          <a:prstGeom prst="roundRect">
            <a:avLst>
              <a:gd name="adj" fmla="val 49333"/>
            </a:avLst>
          </a:prstGeom>
          <a:solidFill>
            <a:srgbClr val="F1F5F9"/>
          </a:solidFill>
          <a:ln/>
        </p:spPr>
      </p:sp>
      <p:sp>
        <p:nvSpPr>
          <p:cNvPr id="30" name="Text 22"/>
          <p:cNvSpPr txBox="1"/>
          <p:nvPr/>
        </p:nvSpPr>
        <p:spPr>
          <a:xfrm>
            <a:off x="548640" y="5577840"/>
            <a:ext cx="11094415" cy="685800"/>
          </a:xfrm>
          <a:prstGeom prst="rect">
            <a:avLst/>
          </a:prstGeom>
          <a:noFill/>
          <a:ln/>
        </p:spPr>
        <p:txBody>
          <a:bodyPr wrap="square" lIns="0" tIns="0" rIns="0" bIns="0" rtlCol="0" anchor="ctr"/>
          <a:lstStyle/>
          <a:p>
            <a:pPr algn="ctr" indent="0" marL="0">
              <a:buNone/>
            </a:pPr>
            <a:r>
              <a:rPr lang="en-US" sz="1600" b="1" dirty="0">
                <a:solidFill>
                  <a:srgbClr val="047857"/>
                </a:solidFill>
                <a:latin typeface="Calibri" pitchFamily="34" charset="0"/>
                <a:ea typeface="Calibri" pitchFamily="34" charset="-122"/>
                <a:cs typeface="Calibri" pitchFamily="34" charset="-120"/>
              </a:rPr>
              <a:t>67 commits   ·   4 extension versions   ·   348 test assertions   ·   every change documented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0F172A"/>
                </a:solidFill>
                <a:latin typeface="Calibri" pitchFamily="34" charset="0"/>
                <a:ea typeface="Calibri" pitchFamily="34" charset="-122"/>
                <a:cs typeface="Calibri" pitchFamily="34" charset="-120"/>
              </a:rPr>
              <a:t>Insights ① — capturing the signals</a:t>
            </a:r>
            <a:endParaRPr lang="en-US" sz="36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800" dirty="0">
                <a:solidFill>
                  <a:srgbClr val="475569"/>
                </a:solidFill>
                <a:latin typeface="Calibri" pitchFamily="34" charset="0"/>
                <a:ea typeface="Calibri" pitchFamily="34" charset="-122"/>
                <a:cs typeface="Calibri" pitchFamily="34" charset="-120"/>
              </a:rPr>
              <a:t>Five trackers inside VS Code turn everyday activity into numbers</a:t>
            </a:r>
            <a:endParaRPr lang="en-US" sz="1800" dirty="0"/>
          </a:p>
        </p:txBody>
      </p:sp>
      <p:sp>
        <p:nvSpPr>
          <p:cNvPr id="4" name="Shape 2"/>
          <p:cNvSpPr/>
          <p:nvPr/>
        </p:nvSpPr>
        <p:spPr>
          <a:xfrm>
            <a:off x="548640" y="1783080"/>
            <a:ext cx="2072579" cy="3337560"/>
          </a:xfrm>
          <a:prstGeom prst="roundRect">
            <a:avLst>
              <a:gd name="adj" fmla="val 5294"/>
            </a:avLst>
          </a:prstGeom>
          <a:solidFill>
            <a:srgbClr val="F1F5F9"/>
          </a:solidFill>
          <a:ln/>
        </p:spPr>
      </p:sp>
      <p:sp>
        <p:nvSpPr>
          <p:cNvPr id="5" name="Shape 3"/>
          <p:cNvSpPr/>
          <p:nvPr/>
        </p:nvSpPr>
        <p:spPr>
          <a:xfrm>
            <a:off x="804672" y="2057400"/>
            <a:ext cx="640080" cy="640080"/>
          </a:xfrm>
          <a:prstGeom prst="ellipse">
            <a:avLst/>
          </a:prstGeom>
          <a:solidFill>
            <a:srgbClr val="0B1220"/>
          </a:solidFill>
          <a:ln/>
        </p:spPr>
      </p:sp>
      <p:pic>
        <p:nvPicPr>
          <p:cNvPr id="6" name="Image 0" descr="preencoded.png">    </p:cNvPr>
          <p:cNvPicPr>
            <a:picLocks noChangeAspect="1"/>
          </p:cNvPicPr>
          <p:nvPr/>
        </p:nvPicPr>
        <p:blipFill>
          <a:blip r:embed="rId1"/>
          <a:stretch>
            <a:fillRect/>
          </a:stretch>
        </p:blipFill>
        <p:spPr>
          <a:xfrm>
            <a:off x="964692" y="2217420"/>
            <a:ext cx="320040" cy="320040"/>
          </a:xfrm>
          <a:prstGeom prst="rect">
            <a:avLst/>
          </a:prstGeom>
        </p:spPr>
      </p:pic>
      <p:sp>
        <p:nvSpPr>
          <p:cNvPr id="7" name="Text 4"/>
          <p:cNvSpPr txBox="1"/>
          <p:nvPr/>
        </p:nvSpPr>
        <p:spPr>
          <a:xfrm>
            <a:off x="804672" y="2834640"/>
            <a:ext cx="1615379"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Editor</a:t>
            </a:r>
            <a:endParaRPr lang="en-US" sz="2000" dirty="0"/>
          </a:p>
        </p:txBody>
      </p:sp>
      <p:sp>
        <p:nvSpPr>
          <p:cNvPr id="8" name="Text 5"/>
          <p:cNvSpPr txBox="1"/>
          <p:nvPr/>
        </p:nvSpPr>
        <p:spPr>
          <a:xfrm>
            <a:off x="804672" y="3291840"/>
            <a:ext cx="1615379" cy="164592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A 5-second sampler splits reading from typing. Churn = lines deleted within 10 minutes of being written.</a:t>
            </a:r>
            <a:endParaRPr lang="en-US" sz="1350" dirty="0"/>
          </a:p>
        </p:txBody>
      </p:sp>
      <p:sp>
        <p:nvSpPr>
          <p:cNvPr id="9" name="Shape 6"/>
          <p:cNvSpPr/>
          <p:nvPr/>
        </p:nvSpPr>
        <p:spPr>
          <a:xfrm>
            <a:off x="2804099" y="1783080"/>
            <a:ext cx="2072579" cy="3337560"/>
          </a:xfrm>
          <a:prstGeom prst="roundRect">
            <a:avLst>
              <a:gd name="adj" fmla="val 5294"/>
            </a:avLst>
          </a:prstGeom>
          <a:solidFill>
            <a:srgbClr val="F1F5F9"/>
          </a:solidFill>
          <a:ln/>
        </p:spPr>
      </p:sp>
      <p:sp>
        <p:nvSpPr>
          <p:cNvPr id="10" name="Shape 7"/>
          <p:cNvSpPr/>
          <p:nvPr/>
        </p:nvSpPr>
        <p:spPr>
          <a:xfrm>
            <a:off x="3060131" y="2057400"/>
            <a:ext cx="640080" cy="640080"/>
          </a:xfrm>
          <a:prstGeom prst="ellipse">
            <a:avLst/>
          </a:prstGeom>
          <a:solidFill>
            <a:srgbClr val="0B1220"/>
          </a:solidFill>
          <a:ln/>
        </p:spPr>
      </p:sp>
      <p:pic>
        <p:nvPicPr>
          <p:cNvPr id="11" name="Image 1" descr="preencoded.png">    </p:cNvPr>
          <p:cNvPicPr>
            <a:picLocks noChangeAspect="1"/>
          </p:cNvPicPr>
          <p:nvPr/>
        </p:nvPicPr>
        <p:blipFill>
          <a:blip r:embed="rId2"/>
          <a:stretch>
            <a:fillRect/>
          </a:stretch>
        </p:blipFill>
        <p:spPr>
          <a:xfrm>
            <a:off x="3220151" y="2217420"/>
            <a:ext cx="320040" cy="320040"/>
          </a:xfrm>
          <a:prstGeom prst="rect">
            <a:avLst/>
          </a:prstGeom>
        </p:spPr>
      </p:pic>
      <p:sp>
        <p:nvSpPr>
          <p:cNvPr id="12" name="Text 8"/>
          <p:cNvSpPr txBox="1"/>
          <p:nvPr/>
        </p:nvSpPr>
        <p:spPr>
          <a:xfrm>
            <a:off x="3060131" y="2834640"/>
            <a:ext cx="1615379"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Focus</a:t>
            </a:r>
            <a:endParaRPr lang="en-US" sz="2000" dirty="0"/>
          </a:p>
        </p:txBody>
      </p:sp>
      <p:sp>
        <p:nvSpPr>
          <p:cNvPr id="13" name="Text 9"/>
          <p:cNvSpPr txBox="1"/>
          <p:nvPr/>
        </p:nvSpPr>
        <p:spPr>
          <a:xfrm>
            <a:off x="3060131" y="3291840"/>
            <a:ext cx="1615379" cy="164592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A flow block is a stretch of activity that ends after 2 minutes idle. Window switches count as interruptions.</a:t>
            </a:r>
            <a:endParaRPr lang="en-US" sz="1350" dirty="0"/>
          </a:p>
        </p:txBody>
      </p:sp>
      <p:sp>
        <p:nvSpPr>
          <p:cNvPr id="14" name="Shape 10"/>
          <p:cNvSpPr/>
          <p:nvPr/>
        </p:nvSpPr>
        <p:spPr>
          <a:xfrm>
            <a:off x="5059558" y="1783080"/>
            <a:ext cx="2072579" cy="3337560"/>
          </a:xfrm>
          <a:prstGeom prst="roundRect">
            <a:avLst>
              <a:gd name="adj" fmla="val 5294"/>
            </a:avLst>
          </a:prstGeom>
          <a:solidFill>
            <a:srgbClr val="F1F5F9"/>
          </a:solidFill>
          <a:ln/>
        </p:spPr>
      </p:sp>
      <p:sp>
        <p:nvSpPr>
          <p:cNvPr id="15" name="Shape 11"/>
          <p:cNvSpPr/>
          <p:nvPr/>
        </p:nvSpPr>
        <p:spPr>
          <a:xfrm>
            <a:off x="5315590" y="2057400"/>
            <a:ext cx="640080" cy="640080"/>
          </a:xfrm>
          <a:prstGeom prst="ellipse">
            <a:avLst/>
          </a:prstGeom>
          <a:solidFill>
            <a:srgbClr val="0B1220"/>
          </a:solidFill>
          <a:ln/>
        </p:spPr>
      </p:sp>
      <p:pic>
        <p:nvPicPr>
          <p:cNvPr id="16" name="Image 2" descr="preencoded.png">    </p:cNvPr>
          <p:cNvPicPr>
            <a:picLocks noChangeAspect="1"/>
          </p:cNvPicPr>
          <p:nvPr/>
        </p:nvPicPr>
        <p:blipFill>
          <a:blip r:embed="rId3"/>
          <a:stretch>
            <a:fillRect/>
          </a:stretch>
        </p:blipFill>
        <p:spPr>
          <a:xfrm>
            <a:off x="5475610" y="2217420"/>
            <a:ext cx="320040" cy="320040"/>
          </a:xfrm>
          <a:prstGeom prst="rect">
            <a:avLst/>
          </a:prstGeom>
        </p:spPr>
      </p:pic>
      <p:sp>
        <p:nvSpPr>
          <p:cNvPr id="17" name="Text 12"/>
          <p:cNvSpPr txBox="1"/>
          <p:nvPr/>
        </p:nvSpPr>
        <p:spPr>
          <a:xfrm>
            <a:off x="5315590" y="2834640"/>
            <a:ext cx="1615379"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Git</a:t>
            </a:r>
            <a:endParaRPr lang="en-US" sz="2000" dirty="0"/>
          </a:p>
        </p:txBody>
      </p:sp>
      <p:sp>
        <p:nvSpPr>
          <p:cNvPr id="18" name="Text 13"/>
          <p:cNvSpPr txBox="1"/>
          <p:nvPr/>
        </p:nvSpPr>
        <p:spPr>
          <a:xfrm>
            <a:off x="5315590" y="3291840"/>
            <a:ext cx="1615379" cy="164592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Commits are read from VS Code’s built-in Git, so Source Control and GitLens commits count too.</a:t>
            </a:r>
            <a:endParaRPr lang="en-US" sz="1350" dirty="0"/>
          </a:p>
        </p:txBody>
      </p:sp>
      <p:sp>
        <p:nvSpPr>
          <p:cNvPr id="19" name="Shape 14"/>
          <p:cNvSpPr/>
          <p:nvPr/>
        </p:nvSpPr>
        <p:spPr>
          <a:xfrm>
            <a:off x="7315017" y="1783080"/>
            <a:ext cx="2072579" cy="3337560"/>
          </a:xfrm>
          <a:prstGeom prst="roundRect">
            <a:avLst>
              <a:gd name="adj" fmla="val 5294"/>
            </a:avLst>
          </a:prstGeom>
          <a:solidFill>
            <a:srgbClr val="F1F5F9"/>
          </a:solidFill>
          <a:ln/>
        </p:spPr>
      </p:sp>
      <p:sp>
        <p:nvSpPr>
          <p:cNvPr id="20" name="Shape 15"/>
          <p:cNvSpPr/>
          <p:nvPr/>
        </p:nvSpPr>
        <p:spPr>
          <a:xfrm>
            <a:off x="7571049" y="2057400"/>
            <a:ext cx="640080" cy="640080"/>
          </a:xfrm>
          <a:prstGeom prst="ellipse">
            <a:avLst/>
          </a:prstGeom>
          <a:solidFill>
            <a:srgbClr val="0B1220"/>
          </a:solidFill>
          <a:ln/>
        </p:spPr>
      </p:sp>
      <p:pic>
        <p:nvPicPr>
          <p:cNvPr id="21" name="Image 3" descr="preencoded.png">    </p:cNvPr>
          <p:cNvPicPr>
            <a:picLocks noChangeAspect="1"/>
          </p:cNvPicPr>
          <p:nvPr/>
        </p:nvPicPr>
        <p:blipFill>
          <a:blip r:embed="rId4"/>
          <a:stretch>
            <a:fillRect/>
          </a:stretch>
        </p:blipFill>
        <p:spPr>
          <a:xfrm>
            <a:off x="7731069" y="2217420"/>
            <a:ext cx="320040" cy="320040"/>
          </a:xfrm>
          <a:prstGeom prst="rect">
            <a:avLst/>
          </a:prstGeom>
        </p:spPr>
      </p:pic>
      <p:sp>
        <p:nvSpPr>
          <p:cNvPr id="22" name="Text 16"/>
          <p:cNvSpPr txBox="1"/>
          <p:nvPr/>
        </p:nvSpPr>
        <p:spPr>
          <a:xfrm>
            <a:off x="7571049" y="2834640"/>
            <a:ext cx="1615379"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Terminal</a:t>
            </a:r>
            <a:endParaRPr lang="en-US" sz="2000" dirty="0"/>
          </a:p>
        </p:txBody>
      </p:sp>
      <p:sp>
        <p:nvSpPr>
          <p:cNvPr id="23" name="Text 17"/>
          <p:cNvSpPr txBox="1"/>
          <p:nvPr/>
        </p:nvSpPr>
        <p:spPr>
          <a:xfrm>
            <a:off x="7571049" y="3291840"/>
            <a:ext cx="1615379" cy="164592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Each command’s exit code marks success or failure; builds and tests are recognised separately.</a:t>
            </a:r>
            <a:endParaRPr lang="en-US" sz="1350" dirty="0"/>
          </a:p>
        </p:txBody>
      </p:sp>
      <p:sp>
        <p:nvSpPr>
          <p:cNvPr id="24" name="Shape 18"/>
          <p:cNvSpPr/>
          <p:nvPr/>
        </p:nvSpPr>
        <p:spPr>
          <a:xfrm>
            <a:off x="9570476" y="1783080"/>
            <a:ext cx="2072579" cy="3337560"/>
          </a:xfrm>
          <a:prstGeom prst="roundRect">
            <a:avLst>
              <a:gd name="adj" fmla="val 5294"/>
            </a:avLst>
          </a:prstGeom>
          <a:solidFill>
            <a:srgbClr val="F1F5F9"/>
          </a:solidFill>
          <a:ln/>
        </p:spPr>
      </p:sp>
      <p:sp>
        <p:nvSpPr>
          <p:cNvPr id="25" name="Shape 19"/>
          <p:cNvSpPr/>
          <p:nvPr/>
        </p:nvSpPr>
        <p:spPr>
          <a:xfrm>
            <a:off x="9826508" y="2057400"/>
            <a:ext cx="640080" cy="640080"/>
          </a:xfrm>
          <a:prstGeom prst="ellipse">
            <a:avLst/>
          </a:prstGeom>
          <a:solidFill>
            <a:srgbClr val="0B1220"/>
          </a:solidFill>
          <a:ln/>
        </p:spPr>
      </p:sp>
      <p:pic>
        <p:nvPicPr>
          <p:cNvPr id="26" name="Image 4" descr="preencoded.png">    </p:cNvPr>
          <p:cNvPicPr>
            <a:picLocks noChangeAspect="1"/>
          </p:cNvPicPr>
          <p:nvPr/>
        </p:nvPicPr>
        <p:blipFill>
          <a:blip r:embed="rId5"/>
          <a:stretch>
            <a:fillRect/>
          </a:stretch>
        </p:blipFill>
        <p:spPr>
          <a:xfrm>
            <a:off x="9986528" y="2217420"/>
            <a:ext cx="320040" cy="320040"/>
          </a:xfrm>
          <a:prstGeom prst="rect">
            <a:avLst/>
          </a:prstGeom>
        </p:spPr>
      </p:pic>
      <p:sp>
        <p:nvSpPr>
          <p:cNvPr id="27" name="Text 20"/>
          <p:cNvSpPr txBox="1"/>
          <p:nvPr/>
        </p:nvSpPr>
        <p:spPr>
          <a:xfrm>
            <a:off x="9826508" y="2834640"/>
            <a:ext cx="1615379"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Debug</a:t>
            </a:r>
            <a:endParaRPr lang="en-US" sz="2000" dirty="0"/>
          </a:p>
        </p:txBody>
      </p:sp>
      <p:sp>
        <p:nvSpPr>
          <p:cNvPr id="28" name="Text 21"/>
          <p:cNvSpPr txBox="1"/>
          <p:nvPr/>
        </p:nvSpPr>
        <p:spPr>
          <a:xfrm>
            <a:off x="9826508" y="3291840"/>
            <a:ext cx="1615379" cy="164592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Counts debugging sessions — time spent fixing rather than building.</a:t>
            </a:r>
            <a:endParaRPr lang="en-US" sz="1350" dirty="0"/>
          </a:p>
        </p:txBody>
      </p:sp>
      <p:sp>
        <p:nvSpPr>
          <p:cNvPr id="29" name="Shape 22"/>
          <p:cNvSpPr/>
          <p:nvPr/>
        </p:nvSpPr>
        <p:spPr>
          <a:xfrm>
            <a:off x="548640" y="5440680"/>
            <a:ext cx="11094415" cy="822960"/>
          </a:xfrm>
          <a:prstGeom prst="roundRect">
            <a:avLst>
              <a:gd name="adj" fmla="val 50000"/>
            </a:avLst>
          </a:prstGeom>
          <a:solidFill>
            <a:srgbClr val="0B1220"/>
          </a:solidFill>
          <a:ln/>
        </p:spPr>
      </p:sp>
      <p:sp>
        <p:nvSpPr>
          <p:cNvPr id="30" name="Shape 23"/>
          <p:cNvSpPr/>
          <p:nvPr/>
        </p:nvSpPr>
        <p:spPr>
          <a:xfrm>
            <a:off x="731520" y="5596128"/>
            <a:ext cx="512064" cy="512064"/>
          </a:xfrm>
          <a:prstGeom prst="ellipse">
            <a:avLst/>
          </a:prstGeom>
          <a:solidFill>
            <a:srgbClr val="10B981"/>
          </a:solidFill>
          <a:ln/>
        </p:spPr>
      </p:sp>
      <p:pic>
        <p:nvPicPr>
          <p:cNvPr id="31" name="Image 5" descr="preencoded.png">    </p:cNvPr>
          <p:cNvPicPr>
            <a:picLocks noChangeAspect="1"/>
          </p:cNvPicPr>
          <p:nvPr/>
        </p:nvPicPr>
        <p:blipFill>
          <a:blip r:embed="rId6"/>
          <a:stretch>
            <a:fillRect/>
          </a:stretch>
        </p:blipFill>
        <p:spPr>
          <a:xfrm>
            <a:off x="859536" y="5724144"/>
            <a:ext cx="256032" cy="256032"/>
          </a:xfrm>
          <a:prstGeom prst="rect">
            <a:avLst/>
          </a:prstGeom>
        </p:spPr>
      </p:pic>
      <p:sp>
        <p:nvSpPr>
          <p:cNvPr id="32" name="Text 24"/>
          <p:cNvSpPr txBox="1"/>
          <p:nvPr/>
        </p:nvSpPr>
        <p:spPr>
          <a:xfrm>
            <a:off x="1371600" y="5440680"/>
            <a:ext cx="256032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Sent after ~2 active minutes</a:t>
            </a:r>
            <a:endParaRPr lang="en-US" sz="1500" dirty="0"/>
          </a:p>
        </p:txBody>
      </p:sp>
      <p:sp>
        <p:nvSpPr>
          <p:cNvPr id="33" name="Shape 25"/>
          <p:cNvSpPr/>
          <p:nvPr/>
        </p:nvSpPr>
        <p:spPr>
          <a:xfrm>
            <a:off x="3886200" y="5852160"/>
            <a:ext cx="457200" cy="0"/>
          </a:xfrm>
          <a:prstGeom prst="line">
            <a:avLst/>
          </a:prstGeom>
          <a:noFill/>
          <a:ln w="25400">
            <a:solidFill>
              <a:srgbClr val="10B981"/>
            </a:solidFill>
            <a:prstDash val="solid"/>
            <a:tailEnd type="triangle"/>
          </a:ln>
        </p:spPr>
      </p:sp>
      <p:sp>
        <p:nvSpPr>
          <p:cNvPr id="34" name="Shape 26"/>
          <p:cNvSpPr/>
          <p:nvPr/>
        </p:nvSpPr>
        <p:spPr>
          <a:xfrm>
            <a:off x="4434840" y="5596128"/>
            <a:ext cx="512064" cy="512064"/>
          </a:xfrm>
          <a:prstGeom prst="ellipse">
            <a:avLst/>
          </a:prstGeom>
          <a:solidFill>
            <a:srgbClr val="10B981"/>
          </a:solidFill>
          <a:ln/>
        </p:spPr>
      </p:sp>
      <p:pic>
        <p:nvPicPr>
          <p:cNvPr id="35" name="Image 6" descr="preencoded.png">    </p:cNvPr>
          <p:cNvPicPr>
            <a:picLocks noChangeAspect="1"/>
          </p:cNvPicPr>
          <p:nvPr/>
        </p:nvPicPr>
        <p:blipFill>
          <a:blip r:embed="rId7"/>
          <a:stretch>
            <a:fillRect/>
          </a:stretch>
        </p:blipFill>
        <p:spPr>
          <a:xfrm>
            <a:off x="4562856" y="5724144"/>
            <a:ext cx="256032" cy="256032"/>
          </a:xfrm>
          <a:prstGeom prst="rect">
            <a:avLst/>
          </a:prstGeom>
        </p:spPr>
      </p:pic>
      <p:sp>
        <p:nvSpPr>
          <p:cNvPr id="36" name="Text 27"/>
          <p:cNvSpPr txBox="1"/>
          <p:nvPr/>
        </p:nvSpPr>
        <p:spPr>
          <a:xfrm>
            <a:off x="5074920" y="5440680"/>
            <a:ext cx="256032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Merged into 10-minute records</a:t>
            </a:r>
            <a:endParaRPr lang="en-US" sz="1500" dirty="0"/>
          </a:p>
        </p:txBody>
      </p:sp>
      <p:sp>
        <p:nvSpPr>
          <p:cNvPr id="37" name="Shape 28"/>
          <p:cNvSpPr/>
          <p:nvPr/>
        </p:nvSpPr>
        <p:spPr>
          <a:xfrm>
            <a:off x="7589520" y="5852160"/>
            <a:ext cx="457200" cy="0"/>
          </a:xfrm>
          <a:prstGeom prst="line">
            <a:avLst/>
          </a:prstGeom>
          <a:noFill/>
          <a:ln w="25400">
            <a:solidFill>
              <a:srgbClr val="10B981"/>
            </a:solidFill>
            <a:prstDash val="solid"/>
            <a:tailEnd type="triangle"/>
          </a:ln>
        </p:spPr>
      </p:sp>
      <p:sp>
        <p:nvSpPr>
          <p:cNvPr id="38" name="Shape 29"/>
          <p:cNvSpPr/>
          <p:nvPr/>
        </p:nvSpPr>
        <p:spPr>
          <a:xfrm>
            <a:off x="8138160" y="5596128"/>
            <a:ext cx="512064" cy="512064"/>
          </a:xfrm>
          <a:prstGeom prst="ellipse">
            <a:avLst/>
          </a:prstGeom>
          <a:solidFill>
            <a:srgbClr val="10B981"/>
          </a:solidFill>
          <a:ln/>
        </p:spPr>
      </p:sp>
      <p:pic>
        <p:nvPicPr>
          <p:cNvPr id="39" name="Image 7" descr="preencoded.png">    </p:cNvPr>
          <p:cNvPicPr>
            <a:picLocks noChangeAspect="1"/>
          </p:cNvPicPr>
          <p:nvPr/>
        </p:nvPicPr>
        <p:blipFill>
          <a:blip r:embed="rId8"/>
          <a:stretch>
            <a:fillRect/>
          </a:stretch>
        </p:blipFill>
        <p:spPr>
          <a:xfrm>
            <a:off x="8266176" y="5724144"/>
            <a:ext cx="256032" cy="256032"/>
          </a:xfrm>
          <a:prstGeom prst="rect">
            <a:avLst/>
          </a:prstGeom>
        </p:spPr>
      </p:pic>
      <p:sp>
        <p:nvSpPr>
          <p:cNvPr id="40" name="Text 30"/>
          <p:cNvSpPr txBox="1"/>
          <p:nvPr/>
        </p:nvSpPr>
        <p:spPr>
          <a:xfrm>
            <a:off x="8778240" y="5440680"/>
            <a:ext cx="256032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Stored in MongoDB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0F172A"/>
                </a:solidFill>
                <a:latin typeface="Calibri" pitchFamily="34" charset="0"/>
                <a:ea typeface="Calibri" pitchFamily="34" charset="-122"/>
                <a:cs typeface="Calibri" pitchFamily="34" charset="-120"/>
              </a:rPr>
              <a:t>Insights ② — from signals to metrics</a:t>
            </a:r>
            <a:endParaRPr lang="en-US" sz="3600" dirty="0"/>
          </a:p>
        </p:txBody>
      </p:sp>
      <p:sp>
        <p:nvSpPr>
          <p:cNvPr id="3" name="Shape 1"/>
          <p:cNvSpPr/>
          <p:nvPr/>
        </p:nvSpPr>
        <p:spPr>
          <a:xfrm>
            <a:off x="548640" y="1280160"/>
            <a:ext cx="3503066" cy="1828800"/>
          </a:xfrm>
          <a:prstGeom prst="roundRect">
            <a:avLst>
              <a:gd name="adj" fmla="val 6000"/>
            </a:avLst>
          </a:prstGeom>
          <a:solidFill>
            <a:srgbClr val="F1F5F9"/>
          </a:solidFill>
          <a:ln/>
        </p:spPr>
      </p:sp>
      <p:sp>
        <p:nvSpPr>
          <p:cNvPr id="4" name="Text 2"/>
          <p:cNvSpPr txBox="1"/>
          <p:nvPr/>
        </p:nvSpPr>
        <p:spPr>
          <a:xfrm>
            <a:off x="822960" y="1444752"/>
            <a:ext cx="2954426"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Deep work ratio</a:t>
            </a:r>
            <a:endParaRPr lang="en-US" sz="1900" dirty="0"/>
          </a:p>
        </p:txBody>
      </p:sp>
      <p:sp>
        <p:nvSpPr>
          <p:cNvPr id="5" name="Shape 3"/>
          <p:cNvSpPr/>
          <p:nvPr/>
        </p:nvSpPr>
        <p:spPr>
          <a:xfrm>
            <a:off x="822960" y="1901952"/>
            <a:ext cx="2954426" cy="566928"/>
          </a:xfrm>
          <a:prstGeom prst="roundRect">
            <a:avLst>
              <a:gd name="adj" fmla="val 16129"/>
            </a:avLst>
          </a:prstGeom>
          <a:solidFill>
            <a:srgbClr val="0B1220"/>
          </a:solidFill>
          <a:ln/>
        </p:spPr>
      </p:sp>
      <p:sp>
        <p:nvSpPr>
          <p:cNvPr id="6" name="Text 4"/>
          <p:cNvSpPr txBox="1"/>
          <p:nvPr/>
        </p:nvSpPr>
        <p:spPr>
          <a:xfrm>
            <a:off x="932688" y="1901952"/>
            <a:ext cx="2734970" cy="566928"/>
          </a:xfrm>
          <a:prstGeom prst="rect">
            <a:avLst/>
          </a:prstGeom>
          <a:noFill/>
          <a:ln/>
        </p:spPr>
        <p:txBody>
          <a:bodyPr wrap="square" lIns="0" tIns="0" rIns="0" bIns="0" rtlCol="0" anchor="ctr"/>
          <a:lstStyle/>
          <a:p>
            <a:pPr indent="0" marL="0">
              <a:buNone/>
            </a:pPr>
            <a:r>
              <a:rPr lang="en-US" sz="1250" b="1" dirty="0">
                <a:solidFill>
                  <a:srgbClr val="10B981"/>
                </a:solidFill>
                <a:latin typeface="Courier New" pitchFamily="34" charset="0"/>
                <a:ea typeface="Courier New" pitchFamily="34" charset="-122"/>
                <a:cs typeface="Courier New" pitchFamily="34" charset="-120"/>
              </a:rPr>
              <a:t>deep time ÷ all block time</a:t>
            </a:r>
            <a:endParaRPr lang="en-US" sz="1250" dirty="0"/>
          </a:p>
        </p:txBody>
      </p:sp>
      <p:sp>
        <p:nvSpPr>
          <p:cNvPr id="7" name="Text 5"/>
          <p:cNvSpPr txBox="1"/>
          <p:nvPr/>
        </p:nvSpPr>
        <p:spPr>
          <a:xfrm>
            <a:off x="822960" y="2542032"/>
            <a:ext cx="2954426" cy="45720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Share of work done in stretches of 25+ minutes</a:t>
            </a:r>
            <a:endParaRPr lang="en-US" sz="1350" dirty="0"/>
          </a:p>
        </p:txBody>
      </p:sp>
      <p:sp>
        <p:nvSpPr>
          <p:cNvPr id="8" name="Shape 6"/>
          <p:cNvSpPr/>
          <p:nvPr/>
        </p:nvSpPr>
        <p:spPr>
          <a:xfrm>
            <a:off x="4344314" y="1280160"/>
            <a:ext cx="3503066" cy="1828800"/>
          </a:xfrm>
          <a:prstGeom prst="roundRect">
            <a:avLst>
              <a:gd name="adj" fmla="val 6000"/>
            </a:avLst>
          </a:prstGeom>
          <a:solidFill>
            <a:srgbClr val="F1F5F9"/>
          </a:solidFill>
          <a:ln/>
        </p:spPr>
      </p:sp>
      <p:sp>
        <p:nvSpPr>
          <p:cNvPr id="9" name="Text 7"/>
          <p:cNvSpPr txBox="1"/>
          <p:nvPr/>
        </p:nvSpPr>
        <p:spPr>
          <a:xfrm>
            <a:off x="4618634" y="1444752"/>
            <a:ext cx="2954426"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Volume stability</a:t>
            </a:r>
            <a:endParaRPr lang="en-US" sz="1900" dirty="0"/>
          </a:p>
        </p:txBody>
      </p:sp>
      <p:sp>
        <p:nvSpPr>
          <p:cNvPr id="10" name="Shape 8"/>
          <p:cNvSpPr/>
          <p:nvPr/>
        </p:nvSpPr>
        <p:spPr>
          <a:xfrm>
            <a:off x="4618634" y="1901952"/>
            <a:ext cx="2954426" cy="566928"/>
          </a:xfrm>
          <a:prstGeom prst="roundRect">
            <a:avLst>
              <a:gd name="adj" fmla="val 16129"/>
            </a:avLst>
          </a:prstGeom>
          <a:solidFill>
            <a:srgbClr val="0B1220"/>
          </a:solidFill>
          <a:ln/>
        </p:spPr>
      </p:sp>
      <p:sp>
        <p:nvSpPr>
          <p:cNvPr id="11" name="Text 9"/>
          <p:cNvSpPr txBox="1"/>
          <p:nvPr/>
        </p:nvSpPr>
        <p:spPr>
          <a:xfrm>
            <a:off x="4728362" y="1901952"/>
            <a:ext cx="2734970" cy="566928"/>
          </a:xfrm>
          <a:prstGeom prst="rect">
            <a:avLst/>
          </a:prstGeom>
          <a:noFill/>
          <a:ln/>
        </p:spPr>
        <p:txBody>
          <a:bodyPr wrap="square" lIns="0" tIns="0" rIns="0" bIns="0" rtlCol="0" anchor="ctr"/>
          <a:lstStyle/>
          <a:p>
            <a:pPr indent="0" marL="0">
              <a:buNone/>
            </a:pPr>
            <a:r>
              <a:rPr lang="en-US" sz="1250" b="1" dirty="0">
                <a:solidFill>
                  <a:srgbClr val="10B981"/>
                </a:solidFill>
                <a:latin typeface="Courier New" pitchFamily="34" charset="0"/>
                <a:ea typeface="Courier New" pitchFamily="34" charset="-122"/>
                <a:cs typeface="Courier New" pitchFamily="34" charset="-120"/>
              </a:rPr>
              <a:t>1 − MAD ÷ median</a:t>
            </a:r>
            <a:endParaRPr lang="en-US" sz="1250" dirty="0"/>
          </a:p>
        </p:txBody>
      </p:sp>
      <p:sp>
        <p:nvSpPr>
          <p:cNvPr id="12" name="Text 10"/>
          <p:cNvSpPr txBox="1"/>
          <p:nvPr/>
        </p:nvSpPr>
        <p:spPr>
          <a:xfrm>
            <a:off x="4618634" y="2542032"/>
            <a:ext cx="2954426" cy="45720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How even your daily minutes are — one huge day can’t skew it</a:t>
            </a:r>
            <a:endParaRPr lang="en-US" sz="1350" dirty="0"/>
          </a:p>
        </p:txBody>
      </p:sp>
      <p:sp>
        <p:nvSpPr>
          <p:cNvPr id="13" name="Shape 11"/>
          <p:cNvSpPr/>
          <p:nvPr/>
        </p:nvSpPr>
        <p:spPr>
          <a:xfrm>
            <a:off x="8139989" y="1280160"/>
            <a:ext cx="3503066" cy="1828800"/>
          </a:xfrm>
          <a:prstGeom prst="roundRect">
            <a:avLst>
              <a:gd name="adj" fmla="val 6000"/>
            </a:avLst>
          </a:prstGeom>
          <a:solidFill>
            <a:srgbClr val="F1F5F9"/>
          </a:solidFill>
          <a:ln/>
        </p:spPr>
      </p:sp>
      <p:sp>
        <p:nvSpPr>
          <p:cNvPr id="14" name="Text 12"/>
          <p:cNvSpPr txBox="1"/>
          <p:nvPr/>
        </p:nvSpPr>
        <p:spPr>
          <a:xfrm>
            <a:off x="8414309" y="1444752"/>
            <a:ext cx="2954426"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Coding cadence</a:t>
            </a:r>
            <a:endParaRPr lang="en-US" sz="1900" dirty="0"/>
          </a:p>
        </p:txBody>
      </p:sp>
      <p:sp>
        <p:nvSpPr>
          <p:cNvPr id="15" name="Shape 13"/>
          <p:cNvSpPr/>
          <p:nvPr/>
        </p:nvSpPr>
        <p:spPr>
          <a:xfrm>
            <a:off x="8414309" y="1901952"/>
            <a:ext cx="2954426" cy="566928"/>
          </a:xfrm>
          <a:prstGeom prst="roundRect">
            <a:avLst>
              <a:gd name="adj" fmla="val 16129"/>
            </a:avLst>
          </a:prstGeom>
          <a:solidFill>
            <a:srgbClr val="0B1220"/>
          </a:solidFill>
          <a:ln/>
        </p:spPr>
      </p:sp>
      <p:sp>
        <p:nvSpPr>
          <p:cNvPr id="16" name="Text 14"/>
          <p:cNvSpPr txBox="1"/>
          <p:nvPr/>
        </p:nvSpPr>
        <p:spPr>
          <a:xfrm>
            <a:off x="8524037" y="1901952"/>
            <a:ext cx="2734970" cy="566928"/>
          </a:xfrm>
          <a:prstGeom prst="rect">
            <a:avLst/>
          </a:prstGeom>
          <a:noFill/>
          <a:ln/>
        </p:spPr>
        <p:txBody>
          <a:bodyPr wrap="square" lIns="0" tIns="0" rIns="0" bIns="0" rtlCol="0" anchor="ctr"/>
          <a:lstStyle/>
          <a:p>
            <a:pPr indent="0" marL="0">
              <a:buNone/>
            </a:pPr>
            <a:r>
              <a:rPr lang="en-US" sz="1250" b="1" dirty="0">
                <a:solidFill>
                  <a:srgbClr val="10B981"/>
                </a:solidFill>
                <a:latin typeface="Courier New" pitchFamily="34" charset="0"/>
                <a:ea typeface="Courier New" pitchFamily="34" charset="-122"/>
                <a:cs typeface="Courier New" pitchFamily="34" charset="-120"/>
              </a:rPr>
              <a:t>active days ÷ days observed</a:t>
            </a:r>
            <a:endParaRPr lang="en-US" sz="1250" dirty="0"/>
          </a:p>
        </p:txBody>
      </p:sp>
      <p:sp>
        <p:nvSpPr>
          <p:cNvPr id="17" name="Text 15"/>
          <p:cNvSpPr txBox="1"/>
          <p:nvPr/>
        </p:nvSpPr>
        <p:spPr>
          <a:xfrm>
            <a:off x="8414309" y="2542032"/>
            <a:ext cx="2954426" cy="45720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How regularly you code at all</a:t>
            </a:r>
            <a:endParaRPr lang="en-US" sz="1350" dirty="0"/>
          </a:p>
        </p:txBody>
      </p:sp>
      <p:sp>
        <p:nvSpPr>
          <p:cNvPr id="18" name="Shape 16"/>
          <p:cNvSpPr/>
          <p:nvPr/>
        </p:nvSpPr>
        <p:spPr>
          <a:xfrm>
            <a:off x="548640" y="3310128"/>
            <a:ext cx="3503066" cy="1828800"/>
          </a:xfrm>
          <a:prstGeom prst="roundRect">
            <a:avLst>
              <a:gd name="adj" fmla="val 6000"/>
            </a:avLst>
          </a:prstGeom>
          <a:solidFill>
            <a:srgbClr val="F1F5F9"/>
          </a:solidFill>
          <a:ln/>
        </p:spPr>
      </p:sp>
      <p:sp>
        <p:nvSpPr>
          <p:cNvPr id="19" name="Text 17"/>
          <p:cNvSpPr txBox="1"/>
          <p:nvPr/>
        </p:nvSpPr>
        <p:spPr>
          <a:xfrm>
            <a:off x="822960" y="3474720"/>
            <a:ext cx="2954426"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True peak window</a:t>
            </a:r>
            <a:endParaRPr lang="en-US" sz="1900" dirty="0"/>
          </a:p>
        </p:txBody>
      </p:sp>
      <p:sp>
        <p:nvSpPr>
          <p:cNvPr id="20" name="Shape 18"/>
          <p:cNvSpPr/>
          <p:nvPr/>
        </p:nvSpPr>
        <p:spPr>
          <a:xfrm>
            <a:off x="822960" y="3931920"/>
            <a:ext cx="2954426" cy="566928"/>
          </a:xfrm>
          <a:prstGeom prst="roundRect">
            <a:avLst>
              <a:gd name="adj" fmla="val 16129"/>
            </a:avLst>
          </a:prstGeom>
          <a:solidFill>
            <a:srgbClr val="0B1220"/>
          </a:solidFill>
          <a:ln/>
        </p:spPr>
      </p:sp>
      <p:sp>
        <p:nvSpPr>
          <p:cNvPr id="21" name="Text 19"/>
          <p:cNvSpPr txBox="1"/>
          <p:nvPr/>
        </p:nvSpPr>
        <p:spPr>
          <a:xfrm>
            <a:off x="932688" y="3931920"/>
            <a:ext cx="2734970" cy="566928"/>
          </a:xfrm>
          <a:prstGeom prst="rect">
            <a:avLst/>
          </a:prstGeom>
          <a:noFill/>
          <a:ln/>
        </p:spPr>
        <p:txBody>
          <a:bodyPr wrap="square" lIns="0" tIns="0" rIns="0" bIns="0" rtlCol="0" anchor="ctr"/>
          <a:lstStyle/>
          <a:p>
            <a:pPr indent="0" marL="0">
              <a:buNone/>
            </a:pPr>
            <a:r>
              <a:rPr lang="en-US" sz="1250" b="1" dirty="0">
                <a:solidFill>
                  <a:srgbClr val="10B981"/>
                </a:solidFill>
                <a:latin typeface="Courier New" pitchFamily="34" charset="0"/>
                <a:ea typeface="Courier New" pitchFamily="34" charset="-122"/>
                <a:cs typeface="Courier New" pitchFamily="34" charset="-120"/>
              </a:rPr>
              <a:t>Σ minutes × (1 − churn)</a:t>
            </a:r>
            <a:endParaRPr lang="en-US" sz="1250" dirty="0"/>
          </a:p>
        </p:txBody>
      </p:sp>
      <p:sp>
        <p:nvSpPr>
          <p:cNvPr id="22" name="Text 20"/>
          <p:cNvSpPr txBox="1"/>
          <p:nvPr/>
        </p:nvSpPr>
        <p:spPr>
          <a:xfrm>
            <a:off x="822960" y="4572000"/>
            <a:ext cx="2954426" cy="45720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The best 2-hour window of code that survives, not just busy time</a:t>
            </a:r>
            <a:endParaRPr lang="en-US" sz="1350" dirty="0"/>
          </a:p>
        </p:txBody>
      </p:sp>
      <p:sp>
        <p:nvSpPr>
          <p:cNvPr id="23" name="Shape 21"/>
          <p:cNvSpPr/>
          <p:nvPr/>
        </p:nvSpPr>
        <p:spPr>
          <a:xfrm>
            <a:off x="4344314" y="3310128"/>
            <a:ext cx="3503066" cy="1828800"/>
          </a:xfrm>
          <a:prstGeom prst="roundRect">
            <a:avLst>
              <a:gd name="adj" fmla="val 6000"/>
            </a:avLst>
          </a:prstGeom>
          <a:solidFill>
            <a:srgbClr val="F1F5F9"/>
          </a:solidFill>
          <a:ln/>
        </p:spPr>
      </p:sp>
      <p:sp>
        <p:nvSpPr>
          <p:cNvPr id="24" name="Text 22"/>
          <p:cNvSpPr txBox="1"/>
          <p:nvPr/>
        </p:nvSpPr>
        <p:spPr>
          <a:xfrm>
            <a:off x="4618634" y="3474720"/>
            <a:ext cx="2954426"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Churn ratio</a:t>
            </a:r>
            <a:endParaRPr lang="en-US" sz="1900" dirty="0"/>
          </a:p>
        </p:txBody>
      </p:sp>
      <p:sp>
        <p:nvSpPr>
          <p:cNvPr id="25" name="Shape 23"/>
          <p:cNvSpPr/>
          <p:nvPr/>
        </p:nvSpPr>
        <p:spPr>
          <a:xfrm>
            <a:off x="4618634" y="3931920"/>
            <a:ext cx="2954426" cy="566928"/>
          </a:xfrm>
          <a:prstGeom prst="roundRect">
            <a:avLst>
              <a:gd name="adj" fmla="val 16129"/>
            </a:avLst>
          </a:prstGeom>
          <a:solidFill>
            <a:srgbClr val="0B1220"/>
          </a:solidFill>
          <a:ln/>
        </p:spPr>
      </p:sp>
      <p:sp>
        <p:nvSpPr>
          <p:cNvPr id="26" name="Text 24"/>
          <p:cNvSpPr txBox="1"/>
          <p:nvPr/>
        </p:nvSpPr>
        <p:spPr>
          <a:xfrm>
            <a:off x="4728362" y="3931920"/>
            <a:ext cx="2734970" cy="566928"/>
          </a:xfrm>
          <a:prstGeom prst="rect">
            <a:avLst/>
          </a:prstGeom>
          <a:noFill/>
          <a:ln/>
        </p:spPr>
        <p:txBody>
          <a:bodyPr wrap="square" lIns="0" tIns="0" rIns="0" bIns="0" rtlCol="0" anchor="ctr"/>
          <a:lstStyle/>
          <a:p>
            <a:pPr indent="0" marL="0">
              <a:buNone/>
            </a:pPr>
            <a:r>
              <a:rPr lang="en-US" sz="1250" b="1" dirty="0">
                <a:solidFill>
                  <a:srgbClr val="10B981"/>
                </a:solidFill>
                <a:latin typeface="Courier New" pitchFamily="34" charset="0"/>
                <a:ea typeface="Courier New" pitchFamily="34" charset="-122"/>
                <a:cs typeface="Courier New" pitchFamily="34" charset="-120"/>
              </a:rPr>
              <a:t>rewritten ÷ written lines</a:t>
            </a:r>
            <a:endParaRPr lang="en-US" sz="1250" dirty="0"/>
          </a:p>
        </p:txBody>
      </p:sp>
      <p:sp>
        <p:nvSpPr>
          <p:cNvPr id="27" name="Text 25"/>
          <p:cNvSpPr txBox="1"/>
          <p:nvPr/>
        </p:nvSpPr>
        <p:spPr>
          <a:xfrm>
            <a:off x="4618634" y="4572000"/>
            <a:ext cx="2954426" cy="45720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How much fresh code is soon deleted again</a:t>
            </a:r>
            <a:endParaRPr lang="en-US" sz="1350" dirty="0"/>
          </a:p>
        </p:txBody>
      </p:sp>
      <p:sp>
        <p:nvSpPr>
          <p:cNvPr id="28" name="Shape 26"/>
          <p:cNvSpPr/>
          <p:nvPr/>
        </p:nvSpPr>
        <p:spPr>
          <a:xfrm>
            <a:off x="8139989" y="3310128"/>
            <a:ext cx="3503066" cy="1828800"/>
          </a:xfrm>
          <a:prstGeom prst="roundRect">
            <a:avLst>
              <a:gd name="adj" fmla="val 6000"/>
            </a:avLst>
          </a:prstGeom>
          <a:solidFill>
            <a:srgbClr val="F1F5F9"/>
          </a:solidFill>
          <a:ln/>
        </p:spPr>
      </p:sp>
      <p:sp>
        <p:nvSpPr>
          <p:cNvPr id="29" name="Text 27"/>
          <p:cNvSpPr txBox="1"/>
          <p:nvPr/>
        </p:nvSpPr>
        <p:spPr>
          <a:xfrm>
            <a:off x="8414309" y="3474720"/>
            <a:ext cx="2954426"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Reading load</a:t>
            </a:r>
            <a:endParaRPr lang="en-US" sz="1900" dirty="0"/>
          </a:p>
        </p:txBody>
      </p:sp>
      <p:sp>
        <p:nvSpPr>
          <p:cNvPr id="30" name="Shape 28"/>
          <p:cNvSpPr/>
          <p:nvPr/>
        </p:nvSpPr>
        <p:spPr>
          <a:xfrm>
            <a:off x="8414309" y="3931920"/>
            <a:ext cx="2954426" cy="566928"/>
          </a:xfrm>
          <a:prstGeom prst="roundRect">
            <a:avLst>
              <a:gd name="adj" fmla="val 16129"/>
            </a:avLst>
          </a:prstGeom>
          <a:solidFill>
            <a:srgbClr val="0B1220"/>
          </a:solidFill>
          <a:ln/>
        </p:spPr>
      </p:sp>
      <p:sp>
        <p:nvSpPr>
          <p:cNvPr id="31" name="Text 29"/>
          <p:cNvSpPr txBox="1"/>
          <p:nvPr/>
        </p:nvSpPr>
        <p:spPr>
          <a:xfrm>
            <a:off x="8524037" y="3931920"/>
            <a:ext cx="2734970" cy="566928"/>
          </a:xfrm>
          <a:prstGeom prst="rect">
            <a:avLst/>
          </a:prstGeom>
          <a:noFill/>
          <a:ln/>
        </p:spPr>
        <p:txBody>
          <a:bodyPr wrap="square" lIns="0" tIns="0" rIns="0" bIns="0" rtlCol="0" anchor="ctr"/>
          <a:lstStyle/>
          <a:p>
            <a:pPr indent="0" marL="0">
              <a:buNone/>
            </a:pPr>
            <a:r>
              <a:rPr lang="en-US" sz="1250" b="1" dirty="0">
                <a:solidFill>
                  <a:srgbClr val="10B981"/>
                </a:solidFill>
                <a:latin typeface="Courier New" pitchFamily="34" charset="0"/>
                <a:ea typeface="Courier New" pitchFamily="34" charset="-122"/>
                <a:cs typeface="Courier New" pitchFamily="34" charset="-120"/>
              </a:rPr>
              <a:t>reading ÷ (reading + typing)</a:t>
            </a:r>
            <a:endParaRPr lang="en-US" sz="1250" dirty="0"/>
          </a:p>
        </p:txBody>
      </p:sp>
      <p:sp>
        <p:nvSpPr>
          <p:cNvPr id="32" name="Text 30"/>
          <p:cNvSpPr txBox="1"/>
          <p:nvPr/>
        </p:nvSpPr>
        <p:spPr>
          <a:xfrm>
            <a:off x="8414309" y="4572000"/>
            <a:ext cx="2954426" cy="45720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Share of attention spent understanding code</a:t>
            </a:r>
            <a:endParaRPr lang="en-US" sz="1350" dirty="0"/>
          </a:p>
        </p:txBody>
      </p:sp>
      <p:sp>
        <p:nvSpPr>
          <p:cNvPr id="33" name="Text 31"/>
          <p:cNvSpPr txBox="1"/>
          <p:nvPr/>
        </p:nvSpPr>
        <p:spPr>
          <a:xfrm>
            <a:off x="548640" y="5394960"/>
            <a:ext cx="5486400" cy="320040"/>
          </a:xfrm>
          <a:prstGeom prst="rect">
            <a:avLst/>
          </a:prstGeom>
          <a:noFill/>
          <a:ln/>
        </p:spPr>
        <p:txBody>
          <a:bodyPr wrap="square" lIns="0" tIns="0" rIns="0" bIns="0" rtlCol="0" anchor="ctr"/>
          <a:lstStyle/>
          <a:p>
            <a:pPr indent="0" marL="0">
              <a:buNone/>
            </a:pPr>
            <a:r>
              <a:rPr lang="en-US" sz="1200" b="1" spc="200" kern="0" dirty="0">
                <a:solidFill>
                  <a:srgbClr val="047857"/>
                </a:solidFill>
                <a:latin typeface="Calibri" pitchFamily="34" charset="0"/>
                <a:ea typeface="Calibri" pitchFamily="34" charset="-122"/>
                <a:cs typeface="Calibri" pitchFamily="34" charset="-120"/>
              </a:rPr>
              <a:t>EVERY METRIC CARRIES A CONFIDENCE LEVEL</a:t>
            </a:r>
            <a:endParaRPr lang="en-US" sz="1200" dirty="0"/>
          </a:p>
        </p:txBody>
      </p:sp>
      <p:sp>
        <p:nvSpPr>
          <p:cNvPr id="34" name="Shape 32"/>
          <p:cNvSpPr/>
          <p:nvPr/>
        </p:nvSpPr>
        <p:spPr>
          <a:xfrm>
            <a:off x="548640" y="5788152"/>
            <a:ext cx="3576218" cy="502920"/>
          </a:xfrm>
          <a:prstGeom prst="roundRect">
            <a:avLst>
              <a:gd name="adj" fmla="val 49091"/>
            </a:avLst>
          </a:prstGeom>
          <a:solidFill>
            <a:srgbClr val="FEF3C7"/>
          </a:solidFill>
          <a:ln/>
        </p:spPr>
      </p:sp>
      <p:sp>
        <p:nvSpPr>
          <p:cNvPr id="35" name="Text 33"/>
          <p:cNvSpPr txBox="1"/>
          <p:nvPr/>
        </p:nvSpPr>
        <p:spPr>
          <a:xfrm>
            <a:off x="548640" y="5788152"/>
            <a:ext cx="3576218" cy="502920"/>
          </a:xfrm>
          <a:prstGeom prst="rect">
            <a:avLst/>
          </a:prstGeom>
          <a:noFill/>
          <a:ln/>
        </p:spPr>
        <p:txBody>
          <a:bodyPr wrap="square" lIns="0" tIns="0" rIns="0" bIns="0" rtlCol="0" anchor="ctr"/>
          <a:lstStyle/>
          <a:p>
            <a:pPr algn="ctr" indent="0" marL="0">
              <a:buNone/>
            </a:pPr>
            <a:r>
              <a:rPr lang="en-US" sz="1400" b="1" dirty="0">
                <a:solidFill>
                  <a:srgbClr val="B45309"/>
                </a:solidFill>
                <a:latin typeface="Calibri" pitchFamily="34" charset="0"/>
                <a:ea typeface="Calibri" pitchFamily="34" charset="-122"/>
                <a:cs typeface="Calibri" pitchFamily="34" charset="-120"/>
              </a:rPr>
              <a:t>Insufficient  </a:t>
            </a:r>
            <a:pPr algn="ctr" indent="0" marL="0">
              <a:buNone/>
            </a:pPr>
            <a:r>
              <a:rPr lang="en-US" sz="1400" dirty="0">
                <a:solidFill>
                  <a:srgbClr val="475569"/>
                </a:solidFill>
                <a:latin typeface="Calibri" pitchFamily="34" charset="0"/>
                <a:ea typeface="Calibri" pitchFamily="34" charset="-122"/>
                <a:cs typeface="Calibri" pitchFamily="34" charset="-120"/>
              </a:rPr>
              <a:t>shows “—” instead of a guess</a:t>
            </a:r>
            <a:endParaRPr lang="en-US" sz="1400" dirty="0"/>
          </a:p>
        </p:txBody>
      </p:sp>
      <p:sp>
        <p:nvSpPr>
          <p:cNvPr id="36" name="Shape 34"/>
          <p:cNvSpPr/>
          <p:nvPr/>
        </p:nvSpPr>
        <p:spPr>
          <a:xfrm>
            <a:off x="4143146" y="6039612"/>
            <a:ext cx="146304" cy="0"/>
          </a:xfrm>
          <a:prstGeom prst="line">
            <a:avLst/>
          </a:prstGeom>
          <a:noFill/>
          <a:ln w="25400">
            <a:solidFill>
              <a:srgbClr val="94A3B8"/>
            </a:solidFill>
            <a:prstDash val="solid"/>
            <a:tailEnd type="triangle"/>
          </a:ln>
        </p:spPr>
      </p:sp>
      <p:sp>
        <p:nvSpPr>
          <p:cNvPr id="37" name="Shape 35"/>
          <p:cNvSpPr/>
          <p:nvPr/>
        </p:nvSpPr>
        <p:spPr>
          <a:xfrm>
            <a:off x="4307738" y="5788152"/>
            <a:ext cx="3576218" cy="502920"/>
          </a:xfrm>
          <a:prstGeom prst="roundRect">
            <a:avLst>
              <a:gd name="adj" fmla="val 49091"/>
            </a:avLst>
          </a:prstGeom>
          <a:solidFill>
            <a:srgbClr val="F1F5F9"/>
          </a:solidFill>
          <a:ln/>
        </p:spPr>
      </p:sp>
      <p:sp>
        <p:nvSpPr>
          <p:cNvPr id="38" name="Text 36"/>
          <p:cNvSpPr txBox="1"/>
          <p:nvPr/>
        </p:nvSpPr>
        <p:spPr>
          <a:xfrm>
            <a:off x="4307738" y="5788152"/>
            <a:ext cx="3576218" cy="50292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Low  </a:t>
            </a:r>
            <a:pPr algn="ctr" indent="0" marL="0">
              <a:buNone/>
            </a:pPr>
            <a:r>
              <a:rPr lang="en-US" sz="1400" dirty="0">
                <a:solidFill>
                  <a:srgbClr val="475569"/>
                </a:solidFill>
                <a:latin typeface="Calibri" pitchFamily="34" charset="0"/>
                <a:ea typeface="Calibri" pitchFamily="34" charset="-122"/>
                <a:cs typeface="Calibri" pitchFamily="34" charset="-120"/>
              </a:rPr>
              <a:t>shown, marked as early</a:t>
            </a:r>
            <a:endParaRPr lang="en-US" sz="1400" dirty="0"/>
          </a:p>
        </p:txBody>
      </p:sp>
      <p:sp>
        <p:nvSpPr>
          <p:cNvPr id="39" name="Shape 37"/>
          <p:cNvSpPr/>
          <p:nvPr/>
        </p:nvSpPr>
        <p:spPr>
          <a:xfrm>
            <a:off x="7902245" y="6039612"/>
            <a:ext cx="146304" cy="0"/>
          </a:xfrm>
          <a:prstGeom prst="line">
            <a:avLst/>
          </a:prstGeom>
          <a:noFill/>
          <a:ln w="25400">
            <a:solidFill>
              <a:srgbClr val="94A3B8"/>
            </a:solidFill>
            <a:prstDash val="solid"/>
            <a:tailEnd type="triangle"/>
          </a:ln>
        </p:spPr>
      </p:sp>
      <p:sp>
        <p:nvSpPr>
          <p:cNvPr id="40" name="Shape 38"/>
          <p:cNvSpPr/>
          <p:nvPr/>
        </p:nvSpPr>
        <p:spPr>
          <a:xfrm>
            <a:off x="8066837" y="5788152"/>
            <a:ext cx="3576218" cy="502920"/>
          </a:xfrm>
          <a:prstGeom prst="roundRect">
            <a:avLst>
              <a:gd name="adj" fmla="val 49091"/>
            </a:avLst>
          </a:prstGeom>
          <a:solidFill>
            <a:srgbClr val="D1FAE5"/>
          </a:solidFill>
          <a:ln/>
        </p:spPr>
      </p:sp>
      <p:sp>
        <p:nvSpPr>
          <p:cNvPr id="41" name="Text 39"/>
          <p:cNvSpPr txBox="1"/>
          <p:nvPr/>
        </p:nvSpPr>
        <p:spPr>
          <a:xfrm>
            <a:off x="8066837" y="5788152"/>
            <a:ext cx="3576218" cy="502920"/>
          </a:xfrm>
          <a:prstGeom prst="rect">
            <a:avLst/>
          </a:prstGeom>
          <a:noFill/>
          <a:ln/>
        </p:spPr>
        <p:txBody>
          <a:bodyPr wrap="square" lIns="0" tIns="0" rIns="0" bIns="0" rtlCol="0" anchor="ctr"/>
          <a:lstStyle/>
          <a:p>
            <a:pPr algn="ctr" indent="0" marL="0">
              <a:buNone/>
            </a:pPr>
            <a:r>
              <a:rPr lang="en-US" sz="1400" b="1" dirty="0">
                <a:solidFill>
                  <a:srgbClr val="047857"/>
                </a:solidFill>
                <a:latin typeface="Calibri" pitchFamily="34" charset="0"/>
                <a:ea typeface="Calibri" pitchFamily="34" charset="-122"/>
                <a:cs typeface="Calibri" pitchFamily="34" charset="-120"/>
              </a:rPr>
              <a:t>High  </a:t>
            </a:r>
            <a:pPr algn="ctr" indent="0" marL="0">
              <a:buNone/>
            </a:pPr>
            <a:r>
              <a:rPr lang="en-US" sz="1400" dirty="0">
                <a:solidFill>
                  <a:srgbClr val="475569"/>
                </a:solidFill>
                <a:latin typeface="Calibri" pitchFamily="34" charset="0"/>
                <a:ea typeface="Calibri" pitchFamily="34" charset="-122"/>
                <a:cs typeface="Calibri" pitchFamily="34" charset="-120"/>
              </a:rPr>
              <a:t>shown normally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0F172A"/>
                </a:solidFill>
                <a:latin typeface="Calibri" pitchFamily="34" charset="0"/>
                <a:ea typeface="Calibri" pitchFamily="34" charset="-122"/>
                <a:cs typeface="Calibri" pitchFamily="34" charset="-120"/>
              </a:rPr>
              <a:t>Insights ③ — from metrics to “What stands out”</a:t>
            </a:r>
            <a:endParaRPr lang="en-US" sz="3600" dirty="0"/>
          </a:p>
        </p:txBody>
      </p:sp>
      <p:sp>
        <p:nvSpPr>
          <p:cNvPr id="3" name="Shape 1"/>
          <p:cNvSpPr/>
          <p:nvPr/>
        </p:nvSpPr>
        <p:spPr>
          <a:xfrm>
            <a:off x="850392" y="1673352"/>
            <a:ext cx="0" cy="3730752"/>
          </a:xfrm>
          <a:prstGeom prst="line">
            <a:avLst/>
          </a:prstGeom>
          <a:noFill/>
          <a:ln w="38100">
            <a:solidFill>
              <a:srgbClr val="CBD5E1"/>
            </a:solidFill>
            <a:prstDash val="solid"/>
          </a:ln>
        </p:spPr>
      </p:sp>
      <p:sp>
        <p:nvSpPr>
          <p:cNvPr id="4" name="Shape 2"/>
          <p:cNvSpPr/>
          <p:nvPr/>
        </p:nvSpPr>
        <p:spPr>
          <a:xfrm>
            <a:off x="548640" y="1371600"/>
            <a:ext cx="603504" cy="603504"/>
          </a:xfrm>
          <a:prstGeom prst="ellipse">
            <a:avLst/>
          </a:prstGeom>
          <a:solidFill>
            <a:srgbClr val="10B981"/>
          </a:solidFill>
          <a:ln/>
        </p:spPr>
      </p:sp>
      <p:pic>
        <p:nvPicPr>
          <p:cNvPr id="5" name="Image 0" descr="preencoded.png">    </p:cNvPr>
          <p:cNvPicPr>
            <a:picLocks noChangeAspect="1"/>
          </p:cNvPicPr>
          <p:nvPr/>
        </p:nvPicPr>
        <p:blipFill>
          <a:blip r:embed="rId1"/>
          <a:stretch>
            <a:fillRect/>
          </a:stretch>
        </p:blipFill>
        <p:spPr>
          <a:xfrm>
            <a:off x="699516" y="1522476"/>
            <a:ext cx="301752" cy="301752"/>
          </a:xfrm>
          <a:prstGeom prst="rect">
            <a:avLst/>
          </a:prstGeom>
        </p:spPr>
      </p:pic>
      <p:sp>
        <p:nvSpPr>
          <p:cNvPr id="6" name="Text 3"/>
          <p:cNvSpPr txBox="1"/>
          <p:nvPr/>
        </p:nvSpPr>
        <p:spPr>
          <a:xfrm>
            <a:off x="1417320" y="1344168"/>
            <a:ext cx="448056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10-minute records</a:t>
            </a:r>
            <a:endParaRPr lang="en-US" sz="1900" dirty="0"/>
          </a:p>
        </p:txBody>
      </p:sp>
      <p:sp>
        <p:nvSpPr>
          <p:cNvPr id="7" name="Text 4"/>
          <p:cNvSpPr txBox="1"/>
          <p:nvPr/>
        </p:nvSpPr>
        <p:spPr>
          <a:xfrm>
            <a:off x="1417320" y="1700784"/>
            <a:ext cx="4480560" cy="329184"/>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Raw activity from the extension</a:t>
            </a:r>
            <a:endParaRPr lang="en-US" sz="1400" dirty="0"/>
          </a:p>
        </p:txBody>
      </p:sp>
      <p:sp>
        <p:nvSpPr>
          <p:cNvPr id="8" name="Shape 5"/>
          <p:cNvSpPr/>
          <p:nvPr/>
        </p:nvSpPr>
        <p:spPr>
          <a:xfrm>
            <a:off x="548640" y="2304288"/>
            <a:ext cx="603504" cy="603504"/>
          </a:xfrm>
          <a:prstGeom prst="ellipse">
            <a:avLst/>
          </a:prstGeom>
          <a:solidFill>
            <a:srgbClr val="10B981"/>
          </a:solidFill>
          <a:ln/>
        </p:spPr>
      </p:sp>
      <p:pic>
        <p:nvPicPr>
          <p:cNvPr id="9" name="Image 1" descr="preencoded.png">    </p:cNvPr>
          <p:cNvPicPr>
            <a:picLocks noChangeAspect="1"/>
          </p:cNvPicPr>
          <p:nvPr/>
        </p:nvPicPr>
        <p:blipFill>
          <a:blip r:embed="rId2"/>
          <a:stretch>
            <a:fillRect/>
          </a:stretch>
        </p:blipFill>
        <p:spPr>
          <a:xfrm>
            <a:off x="699516" y="2455164"/>
            <a:ext cx="301752" cy="301752"/>
          </a:xfrm>
          <a:prstGeom prst="rect">
            <a:avLst/>
          </a:prstGeom>
        </p:spPr>
      </p:pic>
      <p:sp>
        <p:nvSpPr>
          <p:cNvPr id="10" name="Text 6"/>
          <p:cNvSpPr txBox="1"/>
          <p:nvPr/>
        </p:nvSpPr>
        <p:spPr>
          <a:xfrm>
            <a:off x="1417320" y="2276856"/>
            <a:ext cx="448056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Sessions</a:t>
            </a:r>
            <a:endParaRPr lang="en-US" sz="1900" dirty="0"/>
          </a:p>
        </p:txBody>
      </p:sp>
      <p:sp>
        <p:nvSpPr>
          <p:cNvPr id="11" name="Text 7"/>
          <p:cNvSpPr txBox="1"/>
          <p:nvPr/>
        </p:nvSpPr>
        <p:spPr>
          <a:xfrm>
            <a:off x="1417320" y="2633472"/>
            <a:ext cx="4480560" cy="329184"/>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A break of 30+ minutes starts a new one</a:t>
            </a:r>
            <a:endParaRPr lang="en-US" sz="1400" dirty="0"/>
          </a:p>
        </p:txBody>
      </p:sp>
      <p:sp>
        <p:nvSpPr>
          <p:cNvPr id="12" name="Shape 8"/>
          <p:cNvSpPr/>
          <p:nvPr/>
        </p:nvSpPr>
        <p:spPr>
          <a:xfrm>
            <a:off x="548640" y="3236976"/>
            <a:ext cx="603504" cy="603504"/>
          </a:xfrm>
          <a:prstGeom prst="ellipse">
            <a:avLst/>
          </a:prstGeom>
          <a:solidFill>
            <a:srgbClr val="10B981"/>
          </a:solidFill>
          <a:ln/>
        </p:spPr>
      </p:sp>
      <p:pic>
        <p:nvPicPr>
          <p:cNvPr id="13" name="Image 2" descr="preencoded.png">    </p:cNvPr>
          <p:cNvPicPr>
            <a:picLocks noChangeAspect="1"/>
          </p:cNvPicPr>
          <p:nvPr/>
        </p:nvPicPr>
        <p:blipFill>
          <a:blip r:embed="rId3"/>
          <a:stretch>
            <a:fillRect/>
          </a:stretch>
        </p:blipFill>
        <p:spPr>
          <a:xfrm>
            <a:off x="699516" y="3387852"/>
            <a:ext cx="301752" cy="301752"/>
          </a:xfrm>
          <a:prstGeom prst="rect">
            <a:avLst/>
          </a:prstGeom>
        </p:spPr>
      </p:pic>
      <p:sp>
        <p:nvSpPr>
          <p:cNvPr id="14" name="Text 9"/>
          <p:cNvSpPr txBox="1"/>
          <p:nvPr/>
        </p:nvSpPr>
        <p:spPr>
          <a:xfrm>
            <a:off x="1417320" y="3209544"/>
            <a:ext cx="448056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Work types</a:t>
            </a:r>
            <a:endParaRPr lang="en-US" sz="1900" dirty="0"/>
          </a:p>
        </p:txBody>
      </p:sp>
      <p:sp>
        <p:nvSpPr>
          <p:cNvPr id="15" name="Text 10"/>
          <p:cNvSpPr txBox="1"/>
          <p:nvPr/>
        </p:nvSpPr>
        <p:spPr>
          <a:xfrm>
            <a:off x="1417320" y="3566160"/>
            <a:ext cx="4480560" cy="329184"/>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Deep build · Debugging · Exploring · Admin</a:t>
            </a:r>
            <a:endParaRPr lang="en-US" sz="1400" dirty="0"/>
          </a:p>
        </p:txBody>
      </p:sp>
      <p:sp>
        <p:nvSpPr>
          <p:cNvPr id="16" name="Shape 11"/>
          <p:cNvSpPr/>
          <p:nvPr/>
        </p:nvSpPr>
        <p:spPr>
          <a:xfrm>
            <a:off x="548640" y="4169664"/>
            <a:ext cx="603504" cy="603504"/>
          </a:xfrm>
          <a:prstGeom prst="ellipse">
            <a:avLst/>
          </a:prstGeom>
          <a:solidFill>
            <a:srgbClr val="10B981"/>
          </a:solidFill>
          <a:ln/>
        </p:spPr>
      </p:sp>
      <p:pic>
        <p:nvPicPr>
          <p:cNvPr id="17" name="Image 3" descr="preencoded.png">    </p:cNvPr>
          <p:cNvPicPr>
            <a:picLocks noChangeAspect="1"/>
          </p:cNvPicPr>
          <p:nvPr/>
        </p:nvPicPr>
        <p:blipFill>
          <a:blip r:embed="rId4"/>
          <a:stretch>
            <a:fillRect/>
          </a:stretch>
        </p:blipFill>
        <p:spPr>
          <a:xfrm>
            <a:off x="699516" y="4320540"/>
            <a:ext cx="301752" cy="301752"/>
          </a:xfrm>
          <a:prstGeom prst="rect">
            <a:avLst/>
          </a:prstGeom>
        </p:spPr>
      </p:pic>
      <p:sp>
        <p:nvSpPr>
          <p:cNvPr id="18" name="Text 12"/>
          <p:cNvSpPr txBox="1"/>
          <p:nvPr/>
        </p:nvSpPr>
        <p:spPr>
          <a:xfrm>
            <a:off x="1417320" y="4142232"/>
            <a:ext cx="448056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Personal baseline</a:t>
            </a:r>
            <a:endParaRPr lang="en-US" sz="1900" dirty="0"/>
          </a:p>
        </p:txBody>
      </p:sp>
      <p:sp>
        <p:nvSpPr>
          <p:cNvPr id="19" name="Text 13"/>
          <p:cNvSpPr txBox="1"/>
          <p:nvPr/>
        </p:nvSpPr>
        <p:spPr>
          <a:xfrm>
            <a:off x="1417320" y="4498848"/>
            <a:ext cx="4480560" cy="329184"/>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Compared with your own last 90 days</a:t>
            </a:r>
            <a:endParaRPr lang="en-US" sz="1400" dirty="0"/>
          </a:p>
        </p:txBody>
      </p:sp>
      <p:sp>
        <p:nvSpPr>
          <p:cNvPr id="20" name="Shape 14"/>
          <p:cNvSpPr/>
          <p:nvPr/>
        </p:nvSpPr>
        <p:spPr>
          <a:xfrm>
            <a:off x="548640" y="5102352"/>
            <a:ext cx="603504" cy="603504"/>
          </a:xfrm>
          <a:prstGeom prst="ellipse">
            <a:avLst/>
          </a:prstGeom>
          <a:solidFill>
            <a:srgbClr val="F59E0B"/>
          </a:solidFill>
          <a:ln/>
        </p:spPr>
      </p:sp>
      <p:pic>
        <p:nvPicPr>
          <p:cNvPr id="21" name="Image 4" descr="preencoded.png">    </p:cNvPr>
          <p:cNvPicPr>
            <a:picLocks noChangeAspect="1"/>
          </p:cNvPicPr>
          <p:nvPr/>
        </p:nvPicPr>
        <p:blipFill>
          <a:blip r:embed="rId5"/>
          <a:stretch>
            <a:fillRect/>
          </a:stretch>
        </p:blipFill>
        <p:spPr>
          <a:xfrm>
            <a:off x="699516" y="5253228"/>
            <a:ext cx="301752" cy="301752"/>
          </a:xfrm>
          <a:prstGeom prst="rect">
            <a:avLst/>
          </a:prstGeom>
        </p:spPr>
      </p:pic>
      <p:sp>
        <p:nvSpPr>
          <p:cNvPr id="22" name="Text 15"/>
          <p:cNvSpPr txBox="1"/>
          <p:nvPr/>
        </p:nvSpPr>
        <p:spPr>
          <a:xfrm>
            <a:off x="1417320" y="5074920"/>
            <a:ext cx="448056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13 insight rules</a:t>
            </a:r>
            <a:endParaRPr lang="en-US" sz="1900" dirty="0"/>
          </a:p>
        </p:txBody>
      </p:sp>
      <p:sp>
        <p:nvSpPr>
          <p:cNvPr id="23" name="Text 16"/>
          <p:cNvSpPr txBox="1"/>
          <p:nvPr/>
        </p:nvSpPr>
        <p:spPr>
          <a:xfrm>
            <a:off x="1417320" y="5431536"/>
            <a:ext cx="4480560" cy="329184"/>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Each fires only when there is enough data</a:t>
            </a:r>
            <a:endParaRPr lang="en-US" sz="1400" dirty="0"/>
          </a:p>
        </p:txBody>
      </p:sp>
      <p:sp>
        <p:nvSpPr>
          <p:cNvPr id="24" name="Shape 17"/>
          <p:cNvSpPr/>
          <p:nvPr/>
        </p:nvSpPr>
        <p:spPr>
          <a:xfrm>
            <a:off x="6172200" y="1325880"/>
            <a:ext cx="5470855" cy="4937760"/>
          </a:xfrm>
          <a:prstGeom prst="roundRect">
            <a:avLst>
              <a:gd name="adj" fmla="val 2222"/>
            </a:avLst>
          </a:prstGeom>
          <a:solidFill>
            <a:srgbClr val="0B1220"/>
          </a:solidFill>
          <a:ln/>
          <a:effectLst>
            <a:outerShdw sx="100000" sy="100000" kx="0" ky="0" algn="bl" rotWithShape="0" blurRad="127000" dist="38100" dir="5400000">
              <a:srgbClr val="000000">
                <a:alpha val="18000"/>
              </a:srgbClr>
            </a:outerShdw>
          </a:effectLst>
        </p:spPr>
      </p:sp>
      <p:sp>
        <p:nvSpPr>
          <p:cNvPr id="25" name="Shape 18"/>
          <p:cNvSpPr/>
          <p:nvPr/>
        </p:nvSpPr>
        <p:spPr>
          <a:xfrm>
            <a:off x="6537960" y="1645920"/>
            <a:ext cx="457200" cy="457200"/>
          </a:xfrm>
          <a:prstGeom prst="ellipse">
            <a:avLst/>
          </a:prstGeom>
          <a:solidFill>
            <a:srgbClr val="10B981"/>
          </a:solidFill>
          <a:ln/>
        </p:spPr>
      </p:sp>
      <p:pic>
        <p:nvPicPr>
          <p:cNvPr id="26" name="Image 5" descr="preencoded.png">    </p:cNvPr>
          <p:cNvPicPr>
            <a:picLocks noChangeAspect="1"/>
          </p:cNvPicPr>
          <p:nvPr/>
        </p:nvPicPr>
        <p:blipFill>
          <a:blip r:embed="rId6"/>
          <a:stretch>
            <a:fillRect/>
          </a:stretch>
        </p:blipFill>
        <p:spPr>
          <a:xfrm>
            <a:off x="6652260" y="1760220"/>
            <a:ext cx="228600" cy="228600"/>
          </a:xfrm>
          <a:prstGeom prst="rect">
            <a:avLst/>
          </a:prstGeom>
        </p:spPr>
      </p:pic>
      <p:sp>
        <p:nvSpPr>
          <p:cNvPr id="27" name="Text 19"/>
          <p:cNvSpPr txBox="1"/>
          <p:nvPr/>
        </p:nvSpPr>
        <p:spPr>
          <a:xfrm>
            <a:off x="7132320" y="1627632"/>
            <a:ext cx="27432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stands out</a:t>
            </a:r>
            <a:endParaRPr lang="en-US" sz="2200" dirty="0"/>
          </a:p>
        </p:txBody>
      </p:sp>
      <p:sp>
        <p:nvSpPr>
          <p:cNvPr id="28" name="Text 20"/>
          <p:cNvSpPr txBox="1"/>
          <p:nvPr/>
        </p:nvSpPr>
        <p:spPr>
          <a:xfrm>
            <a:off x="9448495" y="1673352"/>
            <a:ext cx="1828800" cy="411480"/>
          </a:xfrm>
          <a:prstGeom prst="rect">
            <a:avLst/>
          </a:prstGeom>
          <a:noFill/>
          <a:ln/>
        </p:spPr>
        <p:txBody>
          <a:bodyPr wrap="square" lIns="0" tIns="0" rIns="0" bIns="0" rtlCol="0" anchor="ctr"/>
          <a:lstStyle/>
          <a:p>
            <a:pPr algn="r" indent="0" marL="0">
              <a:buNone/>
            </a:pPr>
            <a:r>
              <a:rPr lang="en-US" sz="1200" i="1" dirty="0">
                <a:solidFill>
                  <a:srgbClr val="94A3B8"/>
                </a:solidFill>
                <a:latin typeface="Calibri" pitchFamily="34" charset="0"/>
                <a:ea typeface="Calibri" pitchFamily="34" charset="-122"/>
                <a:cs typeface="Calibri" pitchFamily="34" charset="-120"/>
              </a:rPr>
              <a:t>example · real data</a:t>
            </a:r>
            <a:endParaRPr lang="en-US" sz="1200" dirty="0"/>
          </a:p>
        </p:txBody>
      </p:sp>
      <p:sp>
        <p:nvSpPr>
          <p:cNvPr id="29" name="Shape 21"/>
          <p:cNvSpPr/>
          <p:nvPr/>
        </p:nvSpPr>
        <p:spPr>
          <a:xfrm>
            <a:off x="6492240" y="2423160"/>
            <a:ext cx="4830775" cy="1481328"/>
          </a:xfrm>
          <a:prstGeom prst="roundRect">
            <a:avLst>
              <a:gd name="adj" fmla="val 7407"/>
            </a:avLst>
          </a:prstGeom>
          <a:solidFill>
            <a:srgbClr val="16213A"/>
          </a:solidFill>
          <a:ln/>
        </p:spPr>
      </p:sp>
      <p:sp>
        <p:nvSpPr>
          <p:cNvPr id="30" name="Shape 22"/>
          <p:cNvSpPr/>
          <p:nvPr/>
        </p:nvSpPr>
        <p:spPr>
          <a:xfrm>
            <a:off x="6720840" y="2651760"/>
            <a:ext cx="512064" cy="512064"/>
          </a:xfrm>
          <a:prstGeom prst="ellipse">
            <a:avLst/>
          </a:prstGeom>
          <a:solidFill>
            <a:srgbClr val="10B981"/>
          </a:solidFill>
          <a:ln/>
        </p:spPr>
      </p:sp>
      <p:pic>
        <p:nvPicPr>
          <p:cNvPr id="31" name="Image 6" descr="preencoded.png">    </p:cNvPr>
          <p:cNvPicPr>
            <a:picLocks noChangeAspect="1"/>
          </p:cNvPicPr>
          <p:nvPr/>
        </p:nvPicPr>
        <p:blipFill>
          <a:blip r:embed="rId7"/>
          <a:stretch>
            <a:fillRect/>
          </a:stretch>
        </p:blipFill>
        <p:spPr>
          <a:xfrm>
            <a:off x="6848856" y="2779776"/>
            <a:ext cx="256032" cy="256032"/>
          </a:xfrm>
          <a:prstGeom prst="rect">
            <a:avLst/>
          </a:prstGeom>
        </p:spPr>
      </p:pic>
      <p:sp>
        <p:nvSpPr>
          <p:cNvPr id="32" name="Text 23"/>
          <p:cNvSpPr txBox="1"/>
          <p:nvPr/>
        </p:nvSpPr>
        <p:spPr>
          <a:xfrm>
            <a:off x="7406640" y="2587752"/>
            <a:ext cx="3779215"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You do your best work 16:00–18:00</a:t>
            </a:r>
            <a:endParaRPr lang="en-US" sz="1700" dirty="0"/>
          </a:p>
        </p:txBody>
      </p:sp>
      <p:sp>
        <p:nvSpPr>
          <p:cNvPr id="33" name="Text 24"/>
          <p:cNvSpPr txBox="1"/>
          <p:nvPr/>
        </p:nvSpPr>
        <p:spPr>
          <a:xfrm>
            <a:off x="7406640" y="2953512"/>
            <a:ext cx="3779215" cy="329184"/>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Highest surviving minutes, across 23 separate days</a:t>
            </a:r>
            <a:endParaRPr lang="en-US" sz="1350" dirty="0"/>
          </a:p>
        </p:txBody>
      </p:sp>
      <p:sp>
        <p:nvSpPr>
          <p:cNvPr id="34" name="Shape 25"/>
          <p:cNvSpPr/>
          <p:nvPr/>
        </p:nvSpPr>
        <p:spPr>
          <a:xfrm>
            <a:off x="7406640" y="3392424"/>
            <a:ext cx="1325697" cy="310896"/>
          </a:xfrm>
          <a:prstGeom prst="roundRect">
            <a:avLst>
              <a:gd name="adj" fmla="val 50000"/>
            </a:avLst>
          </a:prstGeom>
          <a:solidFill>
            <a:srgbClr val="1E2B47"/>
          </a:solidFill>
          <a:ln/>
        </p:spPr>
      </p:sp>
      <p:sp>
        <p:nvSpPr>
          <p:cNvPr id="35" name="Text 26"/>
          <p:cNvSpPr txBox="1"/>
          <p:nvPr/>
        </p:nvSpPr>
        <p:spPr>
          <a:xfrm>
            <a:off x="7406640" y="3392424"/>
            <a:ext cx="1325697" cy="310896"/>
          </a:xfrm>
          <a:prstGeom prst="rect">
            <a:avLst/>
          </a:prstGeom>
          <a:noFill/>
          <a:ln/>
        </p:spPr>
        <p:txBody>
          <a:bodyPr wrap="square" lIns="0" tIns="0" rIns="0" bIns="0" rtlCol="0" anchor="ctr"/>
          <a:lstStyle/>
          <a:p>
            <a:pPr algn="ctr" indent="0" marL="0">
              <a:buNone/>
            </a:pPr>
            <a:r>
              <a:rPr lang="en-US" sz="1100" dirty="0">
                <a:solidFill>
                  <a:srgbClr val="10B981"/>
                </a:solidFill>
                <a:latin typeface="Courier New" pitchFamily="34" charset="0"/>
                <a:ea typeface="Courier New" pitchFamily="34" charset="-122"/>
                <a:cs typeface="Courier New" pitchFamily="34" charset="-120"/>
              </a:rPr>
              <a:t>startHour: 16</a:t>
            </a:r>
            <a:endParaRPr lang="en-US" sz="1100" dirty="0"/>
          </a:p>
        </p:txBody>
      </p:sp>
      <p:sp>
        <p:nvSpPr>
          <p:cNvPr id="36" name="Shape 27"/>
          <p:cNvSpPr/>
          <p:nvPr/>
        </p:nvSpPr>
        <p:spPr>
          <a:xfrm>
            <a:off x="8823777" y="3392424"/>
            <a:ext cx="1152693" cy="310896"/>
          </a:xfrm>
          <a:prstGeom prst="roundRect">
            <a:avLst>
              <a:gd name="adj" fmla="val 50000"/>
            </a:avLst>
          </a:prstGeom>
          <a:solidFill>
            <a:srgbClr val="1E2B47"/>
          </a:solidFill>
          <a:ln/>
        </p:spPr>
      </p:sp>
      <p:sp>
        <p:nvSpPr>
          <p:cNvPr id="37" name="Text 28"/>
          <p:cNvSpPr txBox="1"/>
          <p:nvPr/>
        </p:nvSpPr>
        <p:spPr>
          <a:xfrm>
            <a:off x="8823777" y="3392424"/>
            <a:ext cx="1152693" cy="310896"/>
          </a:xfrm>
          <a:prstGeom prst="rect">
            <a:avLst/>
          </a:prstGeom>
          <a:noFill/>
          <a:ln/>
        </p:spPr>
        <p:txBody>
          <a:bodyPr wrap="square" lIns="0" tIns="0" rIns="0" bIns="0" rtlCol="0" anchor="ctr"/>
          <a:lstStyle/>
          <a:p>
            <a:pPr algn="ctr" indent="0" marL="0">
              <a:buNone/>
            </a:pPr>
            <a:r>
              <a:rPr lang="en-US" sz="1100" dirty="0">
                <a:solidFill>
                  <a:srgbClr val="10B981"/>
                </a:solidFill>
                <a:latin typeface="Courier New" pitchFamily="34" charset="0"/>
                <a:ea typeface="Courier New" pitchFamily="34" charset="-122"/>
                <a:cs typeface="Courier New" pitchFamily="34" charset="-120"/>
              </a:rPr>
              <a:t>endHour: 18</a:t>
            </a:r>
            <a:endParaRPr lang="en-US" sz="1100" dirty="0"/>
          </a:p>
        </p:txBody>
      </p:sp>
      <p:sp>
        <p:nvSpPr>
          <p:cNvPr id="38" name="Shape 29"/>
          <p:cNvSpPr/>
          <p:nvPr/>
        </p:nvSpPr>
        <p:spPr>
          <a:xfrm>
            <a:off x="10067910" y="3392424"/>
            <a:ext cx="893186" cy="310896"/>
          </a:xfrm>
          <a:prstGeom prst="roundRect">
            <a:avLst>
              <a:gd name="adj" fmla="val 50000"/>
            </a:avLst>
          </a:prstGeom>
          <a:solidFill>
            <a:srgbClr val="1E2B47"/>
          </a:solidFill>
          <a:ln/>
        </p:spPr>
      </p:sp>
      <p:sp>
        <p:nvSpPr>
          <p:cNvPr id="39" name="Text 30"/>
          <p:cNvSpPr txBox="1"/>
          <p:nvPr/>
        </p:nvSpPr>
        <p:spPr>
          <a:xfrm>
            <a:off x="10067910" y="3392424"/>
            <a:ext cx="893186" cy="310896"/>
          </a:xfrm>
          <a:prstGeom prst="rect">
            <a:avLst/>
          </a:prstGeom>
          <a:noFill/>
          <a:ln/>
        </p:spPr>
        <p:txBody>
          <a:bodyPr wrap="square" lIns="0" tIns="0" rIns="0" bIns="0" rtlCol="0" anchor="ctr"/>
          <a:lstStyle/>
          <a:p>
            <a:pPr algn="ctr" indent="0" marL="0">
              <a:buNone/>
            </a:pPr>
            <a:r>
              <a:rPr lang="en-US" sz="1100" dirty="0">
                <a:solidFill>
                  <a:srgbClr val="10B981"/>
                </a:solidFill>
                <a:latin typeface="Courier New" pitchFamily="34" charset="0"/>
                <a:ea typeface="Courier New" pitchFamily="34" charset="-122"/>
                <a:cs typeface="Courier New" pitchFamily="34" charset="-120"/>
              </a:rPr>
              <a:t>days: 23</a:t>
            </a:r>
            <a:endParaRPr lang="en-US" sz="1100" dirty="0"/>
          </a:p>
        </p:txBody>
      </p:sp>
      <p:sp>
        <p:nvSpPr>
          <p:cNvPr id="40" name="Shape 31"/>
          <p:cNvSpPr/>
          <p:nvPr/>
        </p:nvSpPr>
        <p:spPr>
          <a:xfrm>
            <a:off x="6492240" y="4114800"/>
            <a:ext cx="4830775" cy="1481328"/>
          </a:xfrm>
          <a:prstGeom prst="roundRect">
            <a:avLst>
              <a:gd name="adj" fmla="val 7407"/>
            </a:avLst>
          </a:prstGeom>
          <a:solidFill>
            <a:srgbClr val="16213A"/>
          </a:solidFill>
          <a:ln/>
        </p:spPr>
      </p:sp>
      <p:sp>
        <p:nvSpPr>
          <p:cNvPr id="41" name="Shape 32"/>
          <p:cNvSpPr/>
          <p:nvPr/>
        </p:nvSpPr>
        <p:spPr>
          <a:xfrm>
            <a:off x="6720840" y="4343400"/>
            <a:ext cx="512064" cy="512064"/>
          </a:xfrm>
          <a:prstGeom prst="ellipse">
            <a:avLst/>
          </a:prstGeom>
          <a:solidFill>
            <a:srgbClr val="F59E0B"/>
          </a:solidFill>
          <a:ln/>
        </p:spPr>
      </p:sp>
      <p:pic>
        <p:nvPicPr>
          <p:cNvPr id="42" name="Image 7" descr="preencoded.png">    </p:cNvPr>
          <p:cNvPicPr>
            <a:picLocks noChangeAspect="1"/>
          </p:cNvPicPr>
          <p:nvPr/>
        </p:nvPicPr>
        <p:blipFill>
          <a:blip r:embed="rId8"/>
          <a:stretch>
            <a:fillRect/>
          </a:stretch>
        </p:blipFill>
        <p:spPr>
          <a:xfrm>
            <a:off x="6848856" y="4471416"/>
            <a:ext cx="256032" cy="256032"/>
          </a:xfrm>
          <a:prstGeom prst="rect">
            <a:avLst/>
          </a:prstGeom>
        </p:spPr>
      </p:pic>
      <p:sp>
        <p:nvSpPr>
          <p:cNvPr id="43" name="Text 33"/>
          <p:cNvSpPr txBox="1"/>
          <p:nvPr/>
        </p:nvSpPr>
        <p:spPr>
          <a:xfrm>
            <a:off x="7406640" y="4279392"/>
            <a:ext cx="3779215"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Your daily coding volume swings a lot</a:t>
            </a:r>
            <a:endParaRPr lang="en-US" sz="1700" dirty="0"/>
          </a:p>
        </p:txBody>
      </p:sp>
      <p:sp>
        <p:nvSpPr>
          <p:cNvPr id="44" name="Text 34"/>
          <p:cNvSpPr txBox="1"/>
          <p:nvPr/>
        </p:nvSpPr>
        <p:spPr>
          <a:xfrm>
            <a:off x="7406640" y="4645152"/>
            <a:ext cx="3779215" cy="329184"/>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Stability 0.27, measured across 52 active days</a:t>
            </a:r>
            <a:endParaRPr lang="en-US" sz="1350" dirty="0"/>
          </a:p>
        </p:txBody>
      </p:sp>
      <p:sp>
        <p:nvSpPr>
          <p:cNvPr id="45" name="Shape 35"/>
          <p:cNvSpPr/>
          <p:nvPr/>
        </p:nvSpPr>
        <p:spPr>
          <a:xfrm>
            <a:off x="7406640" y="5084064"/>
            <a:ext cx="2017715" cy="310896"/>
          </a:xfrm>
          <a:prstGeom prst="roundRect">
            <a:avLst>
              <a:gd name="adj" fmla="val 50000"/>
            </a:avLst>
          </a:prstGeom>
          <a:solidFill>
            <a:srgbClr val="1E2B47"/>
          </a:solidFill>
          <a:ln/>
        </p:spPr>
      </p:sp>
      <p:sp>
        <p:nvSpPr>
          <p:cNvPr id="46" name="Text 36"/>
          <p:cNvSpPr txBox="1"/>
          <p:nvPr/>
        </p:nvSpPr>
        <p:spPr>
          <a:xfrm>
            <a:off x="7406640" y="5084064"/>
            <a:ext cx="2017715" cy="310896"/>
          </a:xfrm>
          <a:prstGeom prst="rect">
            <a:avLst/>
          </a:prstGeom>
          <a:noFill/>
          <a:ln/>
        </p:spPr>
        <p:txBody>
          <a:bodyPr wrap="square" lIns="0" tIns="0" rIns="0" bIns="0" rtlCol="0" anchor="ctr"/>
          <a:lstStyle/>
          <a:p>
            <a:pPr algn="ctr" indent="0" marL="0">
              <a:buNone/>
            </a:pPr>
            <a:r>
              <a:rPr lang="en-US" sz="1100" dirty="0">
                <a:solidFill>
                  <a:srgbClr val="10B981"/>
                </a:solidFill>
                <a:latin typeface="Courier New" pitchFamily="34" charset="0"/>
                <a:ea typeface="Courier New" pitchFamily="34" charset="-122"/>
                <a:cs typeface="Courier New" pitchFamily="34" charset="-120"/>
              </a:rPr>
              <a:t>volumeStability: 0.27</a:t>
            </a:r>
            <a:endParaRPr lang="en-US" sz="1100" dirty="0"/>
          </a:p>
        </p:txBody>
      </p:sp>
      <p:sp>
        <p:nvSpPr>
          <p:cNvPr id="47" name="Shape 37"/>
          <p:cNvSpPr/>
          <p:nvPr/>
        </p:nvSpPr>
        <p:spPr>
          <a:xfrm>
            <a:off x="9515795" y="5084064"/>
            <a:ext cx="1412199" cy="310896"/>
          </a:xfrm>
          <a:prstGeom prst="roundRect">
            <a:avLst>
              <a:gd name="adj" fmla="val 50000"/>
            </a:avLst>
          </a:prstGeom>
          <a:solidFill>
            <a:srgbClr val="1E2B47"/>
          </a:solidFill>
          <a:ln/>
        </p:spPr>
      </p:sp>
      <p:sp>
        <p:nvSpPr>
          <p:cNvPr id="48" name="Text 38"/>
          <p:cNvSpPr txBox="1"/>
          <p:nvPr/>
        </p:nvSpPr>
        <p:spPr>
          <a:xfrm>
            <a:off x="9515795" y="5084064"/>
            <a:ext cx="1412199" cy="310896"/>
          </a:xfrm>
          <a:prstGeom prst="rect">
            <a:avLst/>
          </a:prstGeom>
          <a:noFill/>
          <a:ln/>
        </p:spPr>
        <p:txBody>
          <a:bodyPr wrap="square" lIns="0" tIns="0" rIns="0" bIns="0" rtlCol="0" anchor="ctr"/>
          <a:lstStyle/>
          <a:p>
            <a:pPr algn="ctr" indent="0" marL="0">
              <a:buNone/>
            </a:pPr>
            <a:r>
              <a:rPr lang="en-US" sz="1100" dirty="0">
                <a:solidFill>
                  <a:srgbClr val="10B981"/>
                </a:solidFill>
                <a:latin typeface="Courier New" pitchFamily="34" charset="0"/>
                <a:ea typeface="Courier New" pitchFamily="34" charset="-122"/>
                <a:cs typeface="Courier New" pitchFamily="34" charset="-120"/>
              </a:rPr>
              <a:t>activeDays: 52</a:t>
            </a:r>
            <a:endParaRPr lang="en-US" sz="1100" dirty="0"/>
          </a:p>
        </p:txBody>
      </p:sp>
      <p:sp>
        <p:nvSpPr>
          <p:cNvPr id="49" name="Text 39"/>
          <p:cNvSpPr txBox="1"/>
          <p:nvPr/>
        </p:nvSpPr>
        <p:spPr>
          <a:xfrm>
            <a:off x="6537960" y="5824728"/>
            <a:ext cx="4739335" cy="292608"/>
          </a:xfrm>
          <a:prstGeom prst="rect">
            <a:avLst/>
          </a:prstGeom>
          <a:noFill/>
          <a:ln/>
        </p:spPr>
        <p:txBody>
          <a:bodyPr wrap="square" lIns="0" tIns="0" rIns="0" bIns="0" rtlCol="0" anchor="ctr"/>
          <a:lstStyle/>
          <a:p>
            <a:pPr indent="0" marL="0">
              <a:buNone/>
            </a:pPr>
            <a:r>
              <a:rPr lang="en-US" sz="1250" i="1" dirty="0">
                <a:solidFill>
                  <a:srgbClr val="94A3B8"/>
                </a:solidFill>
                <a:latin typeface="Calibri" pitchFamily="34" charset="0"/>
                <a:ea typeface="Calibri" pitchFamily="34" charset="-122"/>
                <a:cs typeface="Calibri" pitchFamily="34" charset="-120"/>
              </a:rPr>
              <a:t>Every finding carries the numbers that triggered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0F172A"/>
                </a:solidFill>
                <a:latin typeface="Calibri" pitchFamily="34" charset="0"/>
                <a:ea typeface="Calibri" pitchFamily="34" charset="-122"/>
                <a:cs typeface="Calibri" pitchFamily="34" charset="-120"/>
              </a:rPr>
              <a:t>Built to be reliable</a:t>
            </a:r>
            <a:endParaRPr lang="en-US" sz="3600" dirty="0"/>
          </a:p>
        </p:txBody>
      </p:sp>
      <p:sp>
        <p:nvSpPr>
          <p:cNvPr id="3" name="Shape 1"/>
          <p:cNvSpPr/>
          <p:nvPr/>
        </p:nvSpPr>
        <p:spPr>
          <a:xfrm>
            <a:off x="548640" y="1325880"/>
            <a:ext cx="3503066" cy="1600200"/>
          </a:xfrm>
          <a:prstGeom prst="roundRect">
            <a:avLst>
              <a:gd name="adj" fmla="val 6857"/>
            </a:avLst>
          </a:prstGeom>
          <a:solidFill>
            <a:srgbClr val="0B1220"/>
          </a:solidFill>
          <a:ln/>
        </p:spPr>
      </p:sp>
      <p:sp>
        <p:nvSpPr>
          <p:cNvPr id="4" name="Text 2"/>
          <p:cNvSpPr txBox="1"/>
          <p:nvPr/>
        </p:nvSpPr>
        <p:spPr>
          <a:xfrm>
            <a:off x="914400" y="1417320"/>
            <a:ext cx="2771546" cy="868680"/>
          </a:xfrm>
          <a:prstGeom prst="rect">
            <a:avLst/>
          </a:prstGeom>
          <a:noFill/>
          <a:ln/>
        </p:spPr>
        <p:txBody>
          <a:bodyPr wrap="square" lIns="0" tIns="0" rIns="0" bIns="0" rtlCol="0" anchor="ctr"/>
          <a:lstStyle/>
          <a:p>
            <a:pPr indent="0" marL="0">
              <a:buNone/>
            </a:pPr>
            <a:r>
              <a:rPr lang="en-US" sz="4800" b="1" dirty="0">
                <a:solidFill>
                  <a:srgbClr val="10B981"/>
                </a:solidFill>
                <a:latin typeface="Calibri" pitchFamily="34" charset="0"/>
                <a:ea typeface="Calibri" pitchFamily="34" charset="-122"/>
                <a:cs typeface="Calibri" pitchFamily="34" charset="-120"/>
              </a:rPr>
              <a:t>348</a:t>
            </a:r>
            <a:endParaRPr lang="en-US" sz="4800" dirty="0"/>
          </a:p>
        </p:txBody>
      </p:sp>
      <p:sp>
        <p:nvSpPr>
          <p:cNvPr id="5" name="Text 3"/>
          <p:cNvSpPr txBox="1"/>
          <p:nvPr/>
        </p:nvSpPr>
        <p:spPr>
          <a:xfrm>
            <a:off x="914400" y="2286000"/>
            <a:ext cx="2771546" cy="45720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automated test assertions</a:t>
            </a:r>
            <a:endParaRPr lang="en-US" sz="1600" dirty="0"/>
          </a:p>
        </p:txBody>
      </p:sp>
      <p:sp>
        <p:nvSpPr>
          <p:cNvPr id="6" name="Shape 4"/>
          <p:cNvSpPr/>
          <p:nvPr/>
        </p:nvSpPr>
        <p:spPr>
          <a:xfrm>
            <a:off x="4344314" y="1325880"/>
            <a:ext cx="3503066" cy="1600200"/>
          </a:xfrm>
          <a:prstGeom prst="roundRect">
            <a:avLst>
              <a:gd name="adj" fmla="val 6857"/>
            </a:avLst>
          </a:prstGeom>
          <a:solidFill>
            <a:srgbClr val="0B1220"/>
          </a:solidFill>
          <a:ln/>
        </p:spPr>
      </p:sp>
      <p:sp>
        <p:nvSpPr>
          <p:cNvPr id="7" name="Text 5"/>
          <p:cNvSpPr txBox="1"/>
          <p:nvPr/>
        </p:nvSpPr>
        <p:spPr>
          <a:xfrm>
            <a:off x="4710074" y="1417320"/>
            <a:ext cx="2771546" cy="868680"/>
          </a:xfrm>
          <a:prstGeom prst="rect">
            <a:avLst/>
          </a:prstGeom>
          <a:noFill/>
          <a:ln/>
        </p:spPr>
        <p:txBody>
          <a:bodyPr wrap="square" lIns="0" tIns="0" rIns="0" bIns="0" rtlCol="0" anchor="ctr"/>
          <a:lstStyle/>
          <a:p>
            <a:pPr indent="0" marL="0">
              <a:buNone/>
            </a:pPr>
            <a:r>
              <a:rPr lang="en-US" sz="4800" b="1" dirty="0">
                <a:solidFill>
                  <a:srgbClr val="10B981"/>
                </a:solidFill>
                <a:latin typeface="Calibri" pitchFamily="34" charset="0"/>
                <a:ea typeface="Calibri" pitchFamily="34" charset="-122"/>
                <a:cs typeface="Calibri" pitchFamily="34" charset="-120"/>
              </a:rPr>
              <a:t>CI</a:t>
            </a:r>
            <a:endParaRPr lang="en-US" sz="4800" dirty="0"/>
          </a:p>
        </p:txBody>
      </p:sp>
      <p:sp>
        <p:nvSpPr>
          <p:cNvPr id="8" name="Text 6"/>
          <p:cNvSpPr txBox="1"/>
          <p:nvPr/>
        </p:nvSpPr>
        <p:spPr>
          <a:xfrm>
            <a:off x="4710074" y="2286000"/>
            <a:ext cx="2771546" cy="45720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tests and build on every push</a:t>
            </a:r>
            <a:endParaRPr lang="en-US" sz="1600" dirty="0"/>
          </a:p>
        </p:txBody>
      </p:sp>
      <p:sp>
        <p:nvSpPr>
          <p:cNvPr id="9" name="Shape 7"/>
          <p:cNvSpPr/>
          <p:nvPr/>
        </p:nvSpPr>
        <p:spPr>
          <a:xfrm>
            <a:off x="8139989" y="1325880"/>
            <a:ext cx="3503066" cy="1600200"/>
          </a:xfrm>
          <a:prstGeom prst="roundRect">
            <a:avLst>
              <a:gd name="adj" fmla="val 6857"/>
            </a:avLst>
          </a:prstGeom>
          <a:solidFill>
            <a:srgbClr val="0B1220"/>
          </a:solidFill>
          <a:ln/>
        </p:spPr>
      </p:sp>
      <p:sp>
        <p:nvSpPr>
          <p:cNvPr id="10" name="Text 8"/>
          <p:cNvSpPr txBox="1"/>
          <p:nvPr/>
        </p:nvSpPr>
        <p:spPr>
          <a:xfrm>
            <a:off x="8505749" y="1417320"/>
            <a:ext cx="2771546" cy="868680"/>
          </a:xfrm>
          <a:prstGeom prst="rect">
            <a:avLst/>
          </a:prstGeom>
          <a:noFill/>
          <a:ln/>
        </p:spPr>
        <p:txBody>
          <a:bodyPr wrap="square" lIns="0" tIns="0" rIns="0" bIns="0" rtlCol="0" anchor="ctr"/>
          <a:lstStyle/>
          <a:p>
            <a:pPr indent="0" marL="0">
              <a:buNone/>
            </a:pPr>
            <a:r>
              <a:rPr lang="en-US" sz="4800" b="1" dirty="0">
                <a:solidFill>
                  <a:srgbClr val="10B981"/>
                </a:solidFill>
                <a:latin typeface="Calibri" pitchFamily="34" charset="0"/>
                <a:ea typeface="Calibri" pitchFamily="34" charset="-122"/>
                <a:cs typeface="Calibri" pitchFamily="34" charset="-120"/>
              </a:rPr>
              <a:t>Live</a:t>
            </a:r>
            <a:endParaRPr lang="en-US" sz="4800" dirty="0"/>
          </a:p>
        </p:txBody>
      </p:sp>
      <p:sp>
        <p:nvSpPr>
          <p:cNvPr id="11" name="Text 9"/>
          <p:cNvSpPr txBox="1"/>
          <p:nvPr/>
        </p:nvSpPr>
        <p:spPr>
          <a:xfrm>
            <a:off x="8505749" y="2286000"/>
            <a:ext cx="2771546" cy="45720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deployed and verified end to end</a:t>
            </a:r>
            <a:endParaRPr lang="en-US" sz="1600" dirty="0"/>
          </a:p>
        </p:txBody>
      </p:sp>
      <p:sp>
        <p:nvSpPr>
          <p:cNvPr id="12" name="Shape 10"/>
          <p:cNvSpPr/>
          <p:nvPr/>
        </p:nvSpPr>
        <p:spPr>
          <a:xfrm>
            <a:off x="548640" y="3337560"/>
            <a:ext cx="3503066" cy="1234440"/>
          </a:xfrm>
          <a:prstGeom prst="roundRect">
            <a:avLst>
              <a:gd name="adj" fmla="val 8889"/>
            </a:avLst>
          </a:prstGeom>
          <a:solidFill>
            <a:srgbClr val="F1F5F9"/>
          </a:solidFill>
          <a:ln/>
        </p:spPr>
      </p:sp>
      <p:sp>
        <p:nvSpPr>
          <p:cNvPr id="13" name="Shape 11"/>
          <p:cNvSpPr/>
          <p:nvPr/>
        </p:nvSpPr>
        <p:spPr>
          <a:xfrm>
            <a:off x="822960" y="3648456"/>
            <a:ext cx="603504" cy="603504"/>
          </a:xfrm>
          <a:prstGeom prst="ellipse">
            <a:avLst/>
          </a:prstGeom>
          <a:solidFill>
            <a:srgbClr val="10B981"/>
          </a:solidFill>
          <a:ln/>
        </p:spPr>
      </p:sp>
      <p:pic>
        <p:nvPicPr>
          <p:cNvPr id="14" name="Image 0" descr="preencoded.png">    </p:cNvPr>
          <p:cNvPicPr>
            <a:picLocks noChangeAspect="1"/>
          </p:cNvPicPr>
          <p:nvPr/>
        </p:nvPicPr>
        <p:blipFill>
          <a:blip r:embed="rId1"/>
          <a:stretch>
            <a:fillRect/>
          </a:stretch>
        </p:blipFill>
        <p:spPr>
          <a:xfrm>
            <a:off x="973836" y="3799332"/>
            <a:ext cx="301752" cy="301752"/>
          </a:xfrm>
          <a:prstGeom prst="rect">
            <a:avLst/>
          </a:prstGeom>
        </p:spPr>
      </p:pic>
      <p:sp>
        <p:nvSpPr>
          <p:cNvPr id="15" name="Text 12"/>
          <p:cNvSpPr txBox="1"/>
          <p:nvPr/>
        </p:nvSpPr>
        <p:spPr>
          <a:xfrm>
            <a:off x="1600200" y="3538728"/>
            <a:ext cx="2268626"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Secure sign-in</a:t>
            </a:r>
            <a:endParaRPr lang="en-US" sz="1800" dirty="0"/>
          </a:p>
        </p:txBody>
      </p:sp>
      <p:sp>
        <p:nvSpPr>
          <p:cNvPr id="16" name="Text 13"/>
          <p:cNvSpPr txBox="1"/>
          <p:nvPr/>
        </p:nvSpPr>
        <p:spPr>
          <a:xfrm>
            <a:off x="1600200" y="3922776"/>
            <a:ext cx="2268626" cy="45720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Google login with httpOnly session cookies</a:t>
            </a:r>
            <a:endParaRPr lang="en-US" sz="1400" dirty="0"/>
          </a:p>
        </p:txBody>
      </p:sp>
      <p:sp>
        <p:nvSpPr>
          <p:cNvPr id="17" name="Shape 14"/>
          <p:cNvSpPr/>
          <p:nvPr/>
        </p:nvSpPr>
        <p:spPr>
          <a:xfrm>
            <a:off x="4344314" y="3337560"/>
            <a:ext cx="3503066" cy="1234440"/>
          </a:xfrm>
          <a:prstGeom prst="roundRect">
            <a:avLst>
              <a:gd name="adj" fmla="val 8889"/>
            </a:avLst>
          </a:prstGeom>
          <a:solidFill>
            <a:srgbClr val="F1F5F9"/>
          </a:solidFill>
          <a:ln/>
        </p:spPr>
      </p:sp>
      <p:sp>
        <p:nvSpPr>
          <p:cNvPr id="18" name="Shape 15"/>
          <p:cNvSpPr/>
          <p:nvPr/>
        </p:nvSpPr>
        <p:spPr>
          <a:xfrm>
            <a:off x="4618634" y="3648456"/>
            <a:ext cx="603504" cy="603504"/>
          </a:xfrm>
          <a:prstGeom prst="ellipse">
            <a:avLst/>
          </a:prstGeom>
          <a:solidFill>
            <a:srgbClr val="10B981"/>
          </a:solidFill>
          <a:ln/>
        </p:spPr>
      </p:sp>
      <p:pic>
        <p:nvPicPr>
          <p:cNvPr id="19" name="Image 1" descr="preencoded.png">    </p:cNvPr>
          <p:cNvPicPr>
            <a:picLocks noChangeAspect="1"/>
          </p:cNvPicPr>
          <p:nvPr/>
        </p:nvPicPr>
        <p:blipFill>
          <a:blip r:embed="rId2"/>
          <a:stretch>
            <a:fillRect/>
          </a:stretch>
        </p:blipFill>
        <p:spPr>
          <a:xfrm>
            <a:off x="4769510" y="3799332"/>
            <a:ext cx="301752" cy="301752"/>
          </a:xfrm>
          <a:prstGeom prst="rect">
            <a:avLst/>
          </a:prstGeom>
        </p:spPr>
      </p:pic>
      <p:sp>
        <p:nvSpPr>
          <p:cNvPr id="20" name="Text 16"/>
          <p:cNvSpPr txBox="1"/>
          <p:nvPr/>
        </p:nvSpPr>
        <p:spPr>
          <a:xfrm>
            <a:off x="5395874" y="3538728"/>
            <a:ext cx="2268626"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Protected passwords</a:t>
            </a:r>
            <a:endParaRPr lang="en-US" sz="1800" dirty="0"/>
          </a:p>
        </p:txBody>
      </p:sp>
      <p:sp>
        <p:nvSpPr>
          <p:cNvPr id="21" name="Text 17"/>
          <p:cNvSpPr txBox="1"/>
          <p:nvPr/>
        </p:nvSpPr>
        <p:spPr>
          <a:xfrm>
            <a:off x="5395874" y="3922776"/>
            <a:ext cx="2268626" cy="45720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Group passwords hashed with scrypt</a:t>
            </a:r>
            <a:endParaRPr lang="en-US" sz="1400" dirty="0"/>
          </a:p>
        </p:txBody>
      </p:sp>
      <p:sp>
        <p:nvSpPr>
          <p:cNvPr id="22" name="Shape 18"/>
          <p:cNvSpPr/>
          <p:nvPr/>
        </p:nvSpPr>
        <p:spPr>
          <a:xfrm>
            <a:off x="8139989" y="3337560"/>
            <a:ext cx="3503066" cy="1234440"/>
          </a:xfrm>
          <a:prstGeom prst="roundRect">
            <a:avLst>
              <a:gd name="adj" fmla="val 8889"/>
            </a:avLst>
          </a:prstGeom>
          <a:solidFill>
            <a:srgbClr val="F1F5F9"/>
          </a:solidFill>
          <a:ln/>
        </p:spPr>
      </p:sp>
      <p:sp>
        <p:nvSpPr>
          <p:cNvPr id="23" name="Shape 19"/>
          <p:cNvSpPr/>
          <p:nvPr/>
        </p:nvSpPr>
        <p:spPr>
          <a:xfrm>
            <a:off x="8414309" y="3648456"/>
            <a:ext cx="603504" cy="603504"/>
          </a:xfrm>
          <a:prstGeom prst="ellipse">
            <a:avLst/>
          </a:prstGeom>
          <a:solidFill>
            <a:srgbClr val="10B981"/>
          </a:solidFill>
          <a:ln/>
        </p:spPr>
      </p:sp>
      <p:pic>
        <p:nvPicPr>
          <p:cNvPr id="24" name="Image 2" descr="preencoded.png">    </p:cNvPr>
          <p:cNvPicPr>
            <a:picLocks noChangeAspect="1"/>
          </p:cNvPicPr>
          <p:nvPr/>
        </p:nvPicPr>
        <p:blipFill>
          <a:blip r:embed="rId3"/>
          <a:stretch>
            <a:fillRect/>
          </a:stretch>
        </p:blipFill>
        <p:spPr>
          <a:xfrm>
            <a:off x="8565185" y="3799332"/>
            <a:ext cx="301752" cy="301752"/>
          </a:xfrm>
          <a:prstGeom prst="rect">
            <a:avLst/>
          </a:prstGeom>
        </p:spPr>
      </p:pic>
      <p:sp>
        <p:nvSpPr>
          <p:cNvPr id="25" name="Text 20"/>
          <p:cNvSpPr txBox="1"/>
          <p:nvPr/>
        </p:nvSpPr>
        <p:spPr>
          <a:xfrm>
            <a:off x="9191549" y="3538728"/>
            <a:ext cx="2268626"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Rate limiting</a:t>
            </a:r>
            <a:endParaRPr lang="en-US" sz="1800" dirty="0"/>
          </a:p>
        </p:txBody>
      </p:sp>
      <p:sp>
        <p:nvSpPr>
          <p:cNvPr id="26" name="Text 21"/>
          <p:cNvSpPr txBox="1"/>
          <p:nvPr/>
        </p:nvSpPr>
        <p:spPr>
          <a:xfrm>
            <a:off x="9191549" y="3922776"/>
            <a:ext cx="2268626" cy="45720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Busy and sensitive routes are throttled</a:t>
            </a:r>
            <a:endParaRPr lang="en-US" sz="1400" dirty="0"/>
          </a:p>
        </p:txBody>
      </p:sp>
      <p:sp>
        <p:nvSpPr>
          <p:cNvPr id="27" name="Shape 22"/>
          <p:cNvSpPr/>
          <p:nvPr/>
        </p:nvSpPr>
        <p:spPr>
          <a:xfrm>
            <a:off x="548640" y="4800600"/>
            <a:ext cx="3503066" cy="1234440"/>
          </a:xfrm>
          <a:prstGeom prst="roundRect">
            <a:avLst>
              <a:gd name="adj" fmla="val 8889"/>
            </a:avLst>
          </a:prstGeom>
          <a:solidFill>
            <a:srgbClr val="F1F5F9"/>
          </a:solidFill>
          <a:ln/>
        </p:spPr>
      </p:sp>
      <p:sp>
        <p:nvSpPr>
          <p:cNvPr id="28" name="Shape 23"/>
          <p:cNvSpPr/>
          <p:nvPr/>
        </p:nvSpPr>
        <p:spPr>
          <a:xfrm>
            <a:off x="822960" y="5111496"/>
            <a:ext cx="603504" cy="603504"/>
          </a:xfrm>
          <a:prstGeom prst="ellipse">
            <a:avLst/>
          </a:prstGeom>
          <a:solidFill>
            <a:srgbClr val="10B981"/>
          </a:solidFill>
          <a:ln/>
        </p:spPr>
      </p:sp>
      <p:pic>
        <p:nvPicPr>
          <p:cNvPr id="29" name="Image 3" descr="preencoded.png">    </p:cNvPr>
          <p:cNvPicPr>
            <a:picLocks noChangeAspect="1"/>
          </p:cNvPicPr>
          <p:nvPr/>
        </p:nvPicPr>
        <p:blipFill>
          <a:blip r:embed="rId4"/>
          <a:stretch>
            <a:fillRect/>
          </a:stretch>
        </p:blipFill>
        <p:spPr>
          <a:xfrm>
            <a:off x="973836" y="5262372"/>
            <a:ext cx="301752" cy="301752"/>
          </a:xfrm>
          <a:prstGeom prst="rect">
            <a:avLst/>
          </a:prstGeom>
        </p:spPr>
      </p:pic>
      <p:sp>
        <p:nvSpPr>
          <p:cNvPr id="30" name="Text 24"/>
          <p:cNvSpPr txBox="1"/>
          <p:nvPr/>
        </p:nvSpPr>
        <p:spPr>
          <a:xfrm>
            <a:off x="1600200" y="5001768"/>
            <a:ext cx="2268626"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Input validation</a:t>
            </a:r>
            <a:endParaRPr lang="en-US" sz="1800" dirty="0"/>
          </a:p>
        </p:txBody>
      </p:sp>
      <p:sp>
        <p:nvSpPr>
          <p:cNvPr id="31" name="Text 25"/>
          <p:cNvSpPr txBox="1"/>
          <p:nvPr/>
        </p:nvSpPr>
        <p:spPr>
          <a:xfrm>
            <a:off x="1600200" y="5385816"/>
            <a:ext cx="2268626" cy="45720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Every activity upload is bounds-checked</a:t>
            </a:r>
            <a:endParaRPr lang="en-US" sz="1400" dirty="0"/>
          </a:p>
        </p:txBody>
      </p:sp>
      <p:sp>
        <p:nvSpPr>
          <p:cNvPr id="32" name="Shape 26"/>
          <p:cNvSpPr/>
          <p:nvPr/>
        </p:nvSpPr>
        <p:spPr>
          <a:xfrm>
            <a:off x="4344314" y="4800600"/>
            <a:ext cx="3503066" cy="1234440"/>
          </a:xfrm>
          <a:prstGeom prst="roundRect">
            <a:avLst>
              <a:gd name="adj" fmla="val 8889"/>
            </a:avLst>
          </a:prstGeom>
          <a:solidFill>
            <a:srgbClr val="F1F5F9"/>
          </a:solidFill>
          <a:ln/>
        </p:spPr>
      </p:sp>
      <p:sp>
        <p:nvSpPr>
          <p:cNvPr id="33" name="Shape 27"/>
          <p:cNvSpPr/>
          <p:nvPr/>
        </p:nvSpPr>
        <p:spPr>
          <a:xfrm>
            <a:off x="4618634" y="5111496"/>
            <a:ext cx="603504" cy="603504"/>
          </a:xfrm>
          <a:prstGeom prst="ellipse">
            <a:avLst/>
          </a:prstGeom>
          <a:solidFill>
            <a:srgbClr val="10B981"/>
          </a:solidFill>
          <a:ln/>
        </p:spPr>
      </p:sp>
      <p:pic>
        <p:nvPicPr>
          <p:cNvPr id="34" name="Image 4" descr="preencoded.png">    </p:cNvPr>
          <p:cNvPicPr>
            <a:picLocks noChangeAspect="1"/>
          </p:cNvPicPr>
          <p:nvPr/>
        </p:nvPicPr>
        <p:blipFill>
          <a:blip r:embed="rId5"/>
          <a:stretch>
            <a:fillRect/>
          </a:stretch>
        </p:blipFill>
        <p:spPr>
          <a:xfrm>
            <a:off x="4769510" y="5262372"/>
            <a:ext cx="301752" cy="301752"/>
          </a:xfrm>
          <a:prstGeom prst="rect">
            <a:avLst/>
          </a:prstGeom>
        </p:spPr>
      </p:pic>
      <p:sp>
        <p:nvSpPr>
          <p:cNvPr id="35" name="Text 28"/>
          <p:cNvSpPr txBox="1"/>
          <p:nvPr/>
        </p:nvSpPr>
        <p:spPr>
          <a:xfrm>
            <a:off x="5395874" y="5001768"/>
            <a:ext cx="2268626"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No lost uploads</a:t>
            </a:r>
            <a:endParaRPr lang="en-US" sz="1800" dirty="0"/>
          </a:p>
        </p:txBody>
      </p:sp>
      <p:sp>
        <p:nvSpPr>
          <p:cNvPr id="36" name="Text 29"/>
          <p:cNvSpPr txBox="1"/>
          <p:nvPr/>
        </p:nvSpPr>
        <p:spPr>
          <a:xfrm>
            <a:off x="5395874" y="5385816"/>
            <a:ext cx="2268626" cy="45720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A failed upload merges into the next one</a:t>
            </a:r>
            <a:endParaRPr lang="en-US" sz="1400" dirty="0"/>
          </a:p>
        </p:txBody>
      </p:sp>
      <p:sp>
        <p:nvSpPr>
          <p:cNvPr id="37" name="Shape 30"/>
          <p:cNvSpPr/>
          <p:nvPr/>
        </p:nvSpPr>
        <p:spPr>
          <a:xfrm>
            <a:off x="8139989" y="4800600"/>
            <a:ext cx="3503066" cy="1234440"/>
          </a:xfrm>
          <a:prstGeom prst="roundRect">
            <a:avLst>
              <a:gd name="adj" fmla="val 8889"/>
            </a:avLst>
          </a:prstGeom>
          <a:solidFill>
            <a:srgbClr val="F1F5F9"/>
          </a:solidFill>
          <a:ln/>
        </p:spPr>
      </p:sp>
      <p:sp>
        <p:nvSpPr>
          <p:cNvPr id="38" name="Shape 31"/>
          <p:cNvSpPr/>
          <p:nvPr/>
        </p:nvSpPr>
        <p:spPr>
          <a:xfrm>
            <a:off x="8414309" y="5111496"/>
            <a:ext cx="603504" cy="603504"/>
          </a:xfrm>
          <a:prstGeom prst="ellipse">
            <a:avLst/>
          </a:prstGeom>
          <a:solidFill>
            <a:srgbClr val="10B981"/>
          </a:solidFill>
          <a:ln/>
        </p:spPr>
      </p:sp>
      <p:pic>
        <p:nvPicPr>
          <p:cNvPr id="39" name="Image 5" descr="preencoded.png">    </p:cNvPr>
          <p:cNvPicPr>
            <a:picLocks noChangeAspect="1"/>
          </p:cNvPicPr>
          <p:nvPr/>
        </p:nvPicPr>
        <p:blipFill>
          <a:blip r:embed="rId6"/>
          <a:stretch>
            <a:fillRect/>
          </a:stretch>
        </p:blipFill>
        <p:spPr>
          <a:xfrm>
            <a:off x="8565185" y="5262372"/>
            <a:ext cx="301752" cy="301752"/>
          </a:xfrm>
          <a:prstGeom prst="rect">
            <a:avLst/>
          </a:prstGeom>
        </p:spPr>
      </p:pic>
      <p:sp>
        <p:nvSpPr>
          <p:cNvPr id="40" name="Text 32"/>
          <p:cNvSpPr txBox="1"/>
          <p:nvPr/>
        </p:nvSpPr>
        <p:spPr>
          <a:xfrm>
            <a:off x="9191549" y="5001768"/>
            <a:ext cx="2268626"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Automated jobs</a:t>
            </a:r>
            <a:endParaRPr lang="en-US" sz="1800" dirty="0"/>
          </a:p>
        </p:txBody>
      </p:sp>
      <p:sp>
        <p:nvSpPr>
          <p:cNvPr id="41" name="Text 33"/>
          <p:cNvSpPr txBox="1"/>
          <p:nvPr/>
        </p:nvSpPr>
        <p:spPr>
          <a:xfrm>
            <a:off x="9191549" y="5385816"/>
            <a:ext cx="2268626" cy="45720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Notifications and daily summaries on a schedule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What’s next</a:t>
            </a:r>
            <a:endParaRPr lang="en-US" sz="36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Bring in more coders, then let their data train the model</a:t>
            </a:r>
            <a:endParaRPr lang="en-US" sz="1800" dirty="0"/>
          </a:p>
        </p:txBody>
      </p:sp>
      <p:sp>
        <p:nvSpPr>
          <p:cNvPr id="4" name="Shape 2"/>
          <p:cNvSpPr/>
          <p:nvPr/>
        </p:nvSpPr>
        <p:spPr>
          <a:xfrm>
            <a:off x="548640" y="1920240"/>
            <a:ext cx="3503066" cy="3429000"/>
          </a:xfrm>
          <a:prstGeom prst="roundRect">
            <a:avLst>
              <a:gd name="adj" fmla="val 3733"/>
            </a:avLst>
          </a:prstGeom>
          <a:solidFill>
            <a:srgbClr val="16213A">
              <a:alpha val="90000"/>
            </a:srgbClr>
          </a:solidFill>
          <a:ln w="12700">
            <a:solidFill>
              <a:srgbClr val="2A3A5C"/>
            </a:solidFill>
            <a:prstDash val="solid"/>
          </a:ln>
        </p:spPr>
      </p:sp>
      <p:sp>
        <p:nvSpPr>
          <p:cNvPr id="5" name="Text 3"/>
          <p:cNvSpPr txBox="1"/>
          <p:nvPr/>
        </p:nvSpPr>
        <p:spPr>
          <a:xfrm>
            <a:off x="960120" y="2240280"/>
            <a:ext cx="1828800" cy="320040"/>
          </a:xfrm>
          <a:prstGeom prst="rect">
            <a:avLst/>
          </a:prstGeom>
          <a:noFill/>
          <a:ln/>
        </p:spPr>
        <p:txBody>
          <a:bodyPr wrap="square" lIns="0" tIns="0" rIns="0" bIns="0" rtlCol="0" anchor="ctr"/>
          <a:lstStyle/>
          <a:p>
            <a:pPr indent="0" marL="0">
              <a:buNone/>
            </a:pPr>
            <a:r>
              <a:rPr lang="en-US" sz="1300" b="1" spc="200" kern="0" dirty="0">
                <a:solidFill>
                  <a:srgbClr val="10B981"/>
                </a:solidFill>
                <a:latin typeface="Calibri" pitchFamily="34" charset="0"/>
                <a:ea typeface="Calibri" pitchFamily="34" charset="-122"/>
                <a:cs typeface="Calibri" pitchFamily="34" charset="-120"/>
              </a:rPr>
              <a:t>STEP 1</a:t>
            </a:r>
            <a:endParaRPr lang="en-US" sz="1300" dirty="0"/>
          </a:p>
        </p:txBody>
      </p:sp>
      <p:sp>
        <p:nvSpPr>
          <p:cNvPr id="6" name="Shape 4"/>
          <p:cNvSpPr/>
          <p:nvPr/>
        </p:nvSpPr>
        <p:spPr>
          <a:xfrm>
            <a:off x="960120" y="2697480"/>
            <a:ext cx="822960" cy="822960"/>
          </a:xfrm>
          <a:prstGeom prst="ellipse">
            <a:avLst/>
          </a:prstGeom>
          <a:solidFill>
            <a:srgbClr val="10B981"/>
          </a:solidFill>
          <a:ln/>
        </p:spPr>
      </p:sp>
      <p:pic>
        <p:nvPicPr>
          <p:cNvPr id="7" name="Image 0" descr="preencoded.png">    </p:cNvPr>
          <p:cNvPicPr>
            <a:picLocks noChangeAspect="1"/>
          </p:cNvPicPr>
          <p:nvPr/>
        </p:nvPicPr>
        <p:blipFill>
          <a:blip r:embed="rId2"/>
          <a:stretch>
            <a:fillRect/>
          </a:stretch>
        </p:blipFill>
        <p:spPr>
          <a:xfrm>
            <a:off x="1165860" y="2903220"/>
            <a:ext cx="411480" cy="411480"/>
          </a:xfrm>
          <a:prstGeom prst="rect">
            <a:avLst/>
          </a:prstGeom>
        </p:spPr>
      </p:pic>
      <p:sp>
        <p:nvSpPr>
          <p:cNvPr id="8" name="Text 5"/>
          <p:cNvSpPr txBox="1"/>
          <p:nvPr/>
        </p:nvSpPr>
        <p:spPr>
          <a:xfrm>
            <a:off x="960120" y="3703320"/>
            <a:ext cx="2680106"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Landing page</a:t>
            </a:r>
            <a:endParaRPr lang="en-US" sz="2300" dirty="0"/>
          </a:p>
        </p:txBody>
      </p:sp>
      <p:sp>
        <p:nvSpPr>
          <p:cNvPr id="9" name="Text 6"/>
          <p:cNvSpPr txBox="1"/>
          <p:nvPr/>
        </p:nvSpPr>
        <p:spPr>
          <a:xfrm>
            <a:off x="960120" y="4206240"/>
            <a:ext cx="2680106" cy="96012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A public page with one-click Get Started, so classmates can join in seconds</a:t>
            </a:r>
            <a:endParaRPr lang="en-US" sz="1500" dirty="0"/>
          </a:p>
        </p:txBody>
      </p:sp>
      <p:sp>
        <p:nvSpPr>
          <p:cNvPr id="10" name="Shape 7"/>
          <p:cNvSpPr/>
          <p:nvPr/>
        </p:nvSpPr>
        <p:spPr>
          <a:xfrm>
            <a:off x="4344314" y="1920240"/>
            <a:ext cx="3503066" cy="3429000"/>
          </a:xfrm>
          <a:prstGeom prst="roundRect">
            <a:avLst>
              <a:gd name="adj" fmla="val 3733"/>
            </a:avLst>
          </a:prstGeom>
          <a:solidFill>
            <a:srgbClr val="16213A">
              <a:alpha val="90000"/>
            </a:srgbClr>
          </a:solidFill>
          <a:ln w="12700">
            <a:solidFill>
              <a:srgbClr val="2A3A5C"/>
            </a:solidFill>
            <a:prstDash val="solid"/>
          </a:ln>
        </p:spPr>
      </p:sp>
      <p:sp>
        <p:nvSpPr>
          <p:cNvPr id="11" name="Text 8"/>
          <p:cNvSpPr txBox="1"/>
          <p:nvPr/>
        </p:nvSpPr>
        <p:spPr>
          <a:xfrm>
            <a:off x="4755794" y="2240280"/>
            <a:ext cx="1828800" cy="320040"/>
          </a:xfrm>
          <a:prstGeom prst="rect">
            <a:avLst/>
          </a:prstGeom>
          <a:noFill/>
          <a:ln/>
        </p:spPr>
        <p:txBody>
          <a:bodyPr wrap="square" lIns="0" tIns="0" rIns="0" bIns="0" rtlCol="0" anchor="ctr"/>
          <a:lstStyle/>
          <a:p>
            <a:pPr indent="0" marL="0">
              <a:buNone/>
            </a:pPr>
            <a:r>
              <a:rPr lang="en-US" sz="1300" b="1" spc="200" kern="0" dirty="0">
                <a:solidFill>
                  <a:srgbClr val="10B981"/>
                </a:solidFill>
                <a:latin typeface="Calibri" pitchFamily="34" charset="0"/>
                <a:ea typeface="Calibri" pitchFamily="34" charset="-122"/>
                <a:cs typeface="Calibri" pitchFamily="34" charset="-120"/>
              </a:rPr>
              <a:t>STEP 2</a:t>
            </a:r>
            <a:endParaRPr lang="en-US" sz="1300" dirty="0"/>
          </a:p>
        </p:txBody>
      </p:sp>
      <p:sp>
        <p:nvSpPr>
          <p:cNvPr id="12" name="Shape 9"/>
          <p:cNvSpPr/>
          <p:nvPr/>
        </p:nvSpPr>
        <p:spPr>
          <a:xfrm>
            <a:off x="4755794" y="2697480"/>
            <a:ext cx="822960" cy="822960"/>
          </a:xfrm>
          <a:prstGeom prst="ellipse">
            <a:avLst/>
          </a:prstGeom>
          <a:solidFill>
            <a:srgbClr val="10B981"/>
          </a:solidFill>
          <a:ln/>
        </p:spPr>
      </p:sp>
      <p:pic>
        <p:nvPicPr>
          <p:cNvPr id="13" name="Image 1" descr="preencoded.png">    </p:cNvPr>
          <p:cNvPicPr>
            <a:picLocks noChangeAspect="1"/>
          </p:cNvPicPr>
          <p:nvPr/>
        </p:nvPicPr>
        <p:blipFill>
          <a:blip r:embed="rId3"/>
          <a:stretch>
            <a:fillRect/>
          </a:stretch>
        </p:blipFill>
        <p:spPr>
          <a:xfrm>
            <a:off x="4961534" y="2903220"/>
            <a:ext cx="411480" cy="411480"/>
          </a:xfrm>
          <a:prstGeom prst="rect">
            <a:avLst/>
          </a:prstGeom>
        </p:spPr>
      </p:pic>
      <p:sp>
        <p:nvSpPr>
          <p:cNvPr id="14" name="Text 10"/>
          <p:cNvSpPr txBox="1"/>
          <p:nvPr/>
        </p:nvSpPr>
        <p:spPr>
          <a:xfrm>
            <a:off x="4755794" y="3703320"/>
            <a:ext cx="2680106"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More data from users</a:t>
            </a:r>
            <a:endParaRPr lang="en-US" sz="2300" dirty="0"/>
          </a:p>
        </p:txBody>
      </p:sp>
      <p:sp>
        <p:nvSpPr>
          <p:cNvPr id="15" name="Text 11"/>
          <p:cNvSpPr txBox="1"/>
          <p:nvPr/>
        </p:nvSpPr>
        <p:spPr>
          <a:xfrm>
            <a:off x="4755794" y="4206240"/>
            <a:ext cx="2680106" cy="96012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Friends coding with the extension build a real, shared dataset</a:t>
            </a:r>
            <a:endParaRPr lang="en-US" sz="1500" dirty="0"/>
          </a:p>
        </p:txBody>
      </p:sp>
      <p:sp>
        <p:nvSpPr>
          <p:cNvPr id="16" name="Shape 12"/>
          <p:cNvSpPr/>
          <p:nvPr/>
        </p:nvSpPr>
        <p:spPr>
          <a:xfrm>
            <a:off x="8139989" y="1920240"/>
            <a:ext cx="3503066" cy="3429000"/>
          </a:xfrm>
          <a:prstGeom prst="roundRect">
            <a:avLst>
              <a:gd name="adj" fmla="val 3733"/>
            </a:avLst>
          </a:prstGeom>
          <a:solidFill>
            <a:srgbClr val="16213A">
              <a:alpha val="90000"/>
            </a:srgbClr>
          </a:solidFill>
          <a:ln w="12700">
            <a:solidFill>
              <a:srgbClr val="2A3A5C"/>
            </a:solidFill>
            <a:prstDash val="solid"/>
          </a:ln>
        </p:spPr>
      </p:sp>
      <p:sp>
        <p:nvSpPr>
          <p:cNvPr id="17" name="Text 13"/>
          <p:cNvSpPr txBox="1"/>
          <p:nvPr/>
        </p:nvSpPr>
        <p:spPr>
          <a:xfrm>
            <a:off x="8551469" y="2240280"/>
            <a:ext cx="1828800" cy="320040"/>
          </a:xfrm>
          <a:prstGeom prst="rect">
            <a:avLst/>
          </a:prstGeom>
          <a:noFill/>
          <a:ln/>
        </p:spPr>
        <p:txBody>
          <a:bodyPr wrap="square" lIns="0" tIns="0" rIns="0" bIns="0" rtlCol="0" anchor="ctr"/>
          <a:lstStyle/>
          <a:p>
            <a:pPr indent="0" marL="0">
              <a:buNone/>
            </a:pPr>
            <a:r>
              <a:rPr lang="en-US" sz="1300" b="1" spc="200" kern="0" dirty="0">
                <a:solidFill>
                  <a:srgbClr val="10B981"/>
                </a:solidFill>
                <a:latin typeface="Calibri" pitchFamily="34" charset="0"/>
                <a:ea typeface="Calibri" pitchFamily="34" charset="-122"/>
                <a:cs typeface="Calibri" pitchFamily="34" charset="-120"/>
              </a:rPr>
              <a:t>STEP 3</a:t>
            </a:r>
            <a:endParaRPr lang="en-US" sz="1300" dirty="0"/>
          </a:p>
        </p:txBody>
      </p:sp>
      <p:sp>
        <p:nvSpPr>
          <p:cNvPr id="18" name="Shape 14"/>
          <p:cNvSpPr/>
          <p:nvPr/>
        </p:nvSpPr>
        <p:spPr>
          <a:xfrm>
            <a:off x="8551469" y="2697480"/>
            <a:ext cx="822960" cy="822960"/>
          </a:xfrm>
          <a:prstGeom prst="ellipse">
            <a:avLst/>
          </a:prstGeom>
          <a:solidFill>
            <a:srgbClr val="F59E0B"/>
          </a:solidFill>
          <a:ln/>
        </p:spPr>
      </p:sp>
      <p:pic>
        <p:nvPicPr>
          <p:cNvPr id="19" name="Image 2" descr="preencoded.png">    </p:cNvPr>
          <p:cNvPicPr>
            <a:picLocks noChangeAspect="1"/>
          </p:cNvPicPr>
          <p:nvPr/>
        </p:nvPicPr>
        <p:blipFill>
          <a:blip r:embed="rId4"/>
          <a:stretch>
            <a:fillRect/>
          </a:stretch>
        </p:blipFill>
        <p:spPr>
          <a:xfrm>
            <a:off x="8757209" y="2903220"/>
            <a:ext cx="411480" cy="411480"/>
          </a:xfrm>
          <a:prstGeom prst="rect">
            <a:avLst/>
          </a:prstGeom>
        </p:spPr>
      </p:pic>
      <p:sp>
        <p:nvSpPr>
          <p:cNvPr id="20" name="Text 15"/>
          <p:cNvSpPr txBox="1"/>
          <p:nvPr/>
        </p:nvSpPr>
        <p:spPr>
          <a:xfrm>
            <a:off x="8551469" y="3703320"/>
            <a:ext cx="2680106"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Train the ML model</a:t>
            </a:r>
            <a:endParaRPr lang="en-US" sz="2300" dirty="0"/>
          </a:p>
        </p:txBody>
      </p:sp>
      <p:sp>
        <p:nvSpPr>
          <p:cNvPr id="21" name="Text 16"/>
          <p:cNvSpPr txBox="1"/>
          <p:nvPr/>
        </p:nvSpPr>
        <p:spPr>
          <a:xfrm>
            <a:off x="8551469" y="4206240"/>
            <a:ext cx="2680106" cy="96012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k-means on 8 session features learns how people code — trained offline, served live</a:t>
            </a:r>
            <a:endParaRPr lang="en-US" sz="1500" dirty="0"/>
          </a:p>
        </p:txBody>
      </p:sp>
      <p:sp>
        <p:nvSpPr>
          <p:cNvPr id="22" name="Shape 17"/>
          <p:cNvSpPr/>
          <p:nvPr/>
        </p:nvSpPr>
        <p:spPr>
          <a:xfrm>
            <a:off x="3960266" y="3396996"/>
            <a:ext cx="475488" cy="475488"/>
          </a:xfrm>
          <a:prstGeom prst="ellipse">
            <a:avLst/>
          </a:prstGeom>
          <a:solidFill>
            <a:srgbClr val="10B981"/>
          </a:solidFill>
          <a:ln/>
        </p:spPr>
      </p:sp>
      <p:pic>
        <p:nvPicPr>
          <p:cNvPr id="23" name="Image 3" descr="preencoded.png">    </p:cNvPr>
          <p:cNvPicPr>
            <a:picLocks noChangeAspect="1"/>
          </p:cNvPicPr>
          <p:nvPr/>
        </p:nvPicPr>
        <p:blipFill>
          <a:blip r:embed="rId5"/>
          <a:stretch>
            <a:fillRect/>
          </a:stretch>
        </p:blipFill>
        <p:spPr>
          <a:xfrm>
            <a:off x="4079138" y="3515868"/>
            <a:ext cx="237744" cy="237744"/>
          </a:xfrm>
          <a:prstGeom prst="rect">
            <a:avLst/>
          </a:prstGeom>
        </p:spPr>
      </p:pic>
      <p:sp>
        <p:nvSpPr>
          <p:cNvPr id="24" name="Shape 18"/>
          <p:cNvSpPr/>
          <p:nvPr/>
        </p:nvSpPr>
        <p:spPr>
          <a:xfrm>
            <a:off x="7755941" y="3396996"/>
            <a:ext cx="475488" cy="475488"/>
          </a:xfrm>
          <a:prstGeom prst="ellipse">
            <a:avLst/>
          </a:prstGeom>
          <a:solidFill>
            <a:srgbClr val="10B981"/>
          </a:solidFill>
          <a:ln/>
        </p:spPr>
      </p:sp>
      <p:pic>
        <p:nvPicPr>
          <p:cNvPr id="25" name="Image 4" descr="preencoded.png">    </p:cNvPr>
          <p:cNvPicPr>
            <a:picLocks noChangeAspect="1"/>
          </p:cNvPicPr>
          <p:nvPr/>
        </p:nvPicPr>
        <p:blipFill>
          <a:blip r:embed="rId6"/>
          <a:stretch>
            <a:fillRect/>
          </a:stretch>
        </p:blipFill>
        <p:spPr>
          <a:xfrm>
            <a:off x="7874813" y="3515868"/>
            <a:ext cx="237744" cy="237744"/>
          </a:xfrm>
          <a:prstGeom prst="rect">
            <a:avLst/>
          </a:prstGeom>
        </p:spPr>
      </p:pic>
      <p:sp>
        <p:nvSpPr>
          <p:cNvPr id="26" name="Text 19"/>
          <p:cNvSpPr txBox="1"/>
          <p:nvPr/>
        </p:nvSpPr>
        <p:spPr>
          <a:xfrm>
            <a:off x="548640" y="5806440"/>
            <a:ext cx="3657600" cy="457200"/>
          </a:xfrm>
          <a:prstGeom prst="rect">
            <a:avLst/>
          </a:prstGeom>
          <a:noFill/>
          <a:ln/>
        </p:spPr>
        <p:txBody>
          <a:bodyPr wrap="square" lIns="0" tIns="0" rIns="0" bIns="0" rtlCol="0" anchor="ctr"/>
          <a:lstStyle/>
          <a:p>
            <a:pPr indent="0" marL="0">
              <a:buNone/>
            </a:pPr>
            <a:r>
              <a:rPr lang="en-US" sz="2000" b="1" dirty="0">
                <a:solidFill>
                  <a:srgbClr val="10B981"/>
                </a:solidFill>
                <a:latin typeface="Calibri" pitchFamily="34" charset="0"/>
                <a:ea typeface="Calibri" pitchFamily="34" charset="-122"/>
                <a:cs typeface="Calibri"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CodeTrackr — Mentor Update</dc:title>
  <dc:subject>PptxGenJS Presentation</dc:subject>
  <dc:creator>Soham Budhewar</dc:creator>
  <cp:lastModifiedBy>Soham Budhewar</cp:lastModifiedBy>
  <cp:revision>1</cp:revision>
  <dcterms:created xsi:type="dcterms:W3CDTF">2026-09-16T13:22:44Z</dcterms:created>
  <dcterms:modified xsi:type="dcterms:W3CDTF">2026-09-16T13:22:44Z</dcterms:modified>
</cp:coreProperties>
</file>